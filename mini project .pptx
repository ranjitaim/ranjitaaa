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4" r:id="rId1"/>
  </p:sldMasterIdLst>
  <p:notesMasterIdLst>
    <p:notesMasterId r:id="rId25"/>
  </p:notesMasterIdLst>
  <p:sldIdLst>
    <p:sldId id="256" r:id="rId2"/>
    <p:sldId id="276" r:id="rId3"/>
    <p:sldId id="257" r:id="rId4"/>
    <p:sldId id="258" r:id="rId5"/>
    <p:sldId id="277" r:id="rId6"/>
    <p:sldId id="260" r:id="rId7"/>
    <p:sldId id="261" r:id="rId8"/>
    <p:sldId id="262" r:id="rId9"/>
    <p:sldId id="263" r:id="rId10"/>
    <p:sldId id="265" r:id="rId11"/>
    <p:sldId id="267" r:id="rId12"/>
    <p:sldId id="268" r:id="rId13"/>
    <p:sldId id="269" r:id="rId14"/>
    <p:sldId id="278" r:id="rId15"/>
    <p:sldId id="279" r:id="rId16"/>
    <p:sldId id="280" r:id="rId17"/>
    <p:sldId id="281" r:id="rId18"/>
    <p:sldId id="282" r:id="rId19"/>
    <p:sldId id="283" r:id="rId20"/>
    <p:sldId id="284" r:id="rId21"/>
    <p:sldId id="273" r:id="rId22"/>
    <p:sldId id="274"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snapToObjects="1">
      <p:cViewPr varScale="1">
        <p:scale>
          <a:sx n="69" d="100"/>
          <a:sy n="69" d="100"/>
        </p:scale>
        <p:origin x="900"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8DD22-2D49-43F3-868C-8666ADC32761}"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E4B414-A645-4320-8C0F-E25EF3790A62}" type="slidenum">
              <a:rPr lang="en-US" smtClean="0"/>
              <a:t>‹#›</a:t>
            </a:fld>
            <a:endParaRPr lang="en-US"/>
          </a:p>
        </p:txBody>
      </p:sp>
    </p:spTree>
    <p:extLst>
      <p:ext uri="{BB962C8B-B14F-4D97-AF65-F5344CB8AC3E}">
        <p14:creationId xmlns:p14="http://schemas.microsoft.com/office/powerpoint/2010/main" val="322309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E4B414-A645-4320-8C0F-E25EF3790A62}" type="slidenum">
              <a:rPr lang="en-US" smtClean="0"/>
              <a:t>1</a:t>
            </a:fld>
            <a:endParaRPr lang="en-US"/>
          </a:p>
        </p:txBody>
      </p:sp>
    </p:spTree>
    <p:extLst>
      <p:ext uri="{BB962C8B-B14F-4D97-AF65-F5344CB8AC3E}">
        <p14:creationId xmlns:p14="http://schemas.microsoft.com/office/powerpoint/2010/main" val="4176901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A51639-B2D6-4652-B8C3-1B4C224A7BAF}" type="datetimeFigureOut">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0510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F5DD9-2C52-442D-92E2-8072C0C3D7CD}" type="datetimeFigureOut">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2388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4961B7-6B89-48AB-966F-622E2788EECC}" type="datetimeFigureOut">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81877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smtClean="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13178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C48EC7-AF6A-48D3-8284-14BACBEBDD84}" type="datetimeFigureOut">
              <a:rPr lang="en-US" smtClean="0"/>
              <a:t>11/21/2025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1145529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smtClean="0"/>
              <a:t>11/21/2025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69121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smtClean="0"/>
              <a:t>11/21/2025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54787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F131DD-A141-4471-BCF9-C6073EDD7E20}" type="datetimeFigureOut">
              <a:rPr lang="en-US" smtClean="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9996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334A90-EB03-42F3-8859-2C2B2724C058}" type="datetimeFigureOut">
              <a:rPr lang="en-US" smtClean="0"/>
              <a:t>11/21/2025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11716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15356073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5720650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0538135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1801306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C48EC7-AF6A-48D3-8284-14BACBEBDD84}" type="datetimeFigureOut">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1426077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40325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smtClean="0"/>
              <a:t>11/21/2025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96334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BC48EC7-AF6A-48D3-8284-14BACBEBDD84}" type="datetimeFigureOut">
              <a:rPr lang="en-US" smtClean="0"/>
              <a:t>11/21/2025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99353139"/>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www.who.int/publications/i/item/9789240020924"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D877C7-D30B-BE43-70E9-81311FFF85E3}"/>
              </a:ext>
            </a:extLst>
          </p:cNvPr>
          <p:cNvSpPr>
            <a:spLocks noGrp="1"/>
          </p:cNvSpPr>
          <p:nvPr>
            <p:ph type="title"/>
          </p:nvPr>
        </p:nvSpPr>
        <p:spPr>
          <a:xfrm>
            <a:off x="1114617" y="-366920"/>
            <a:ext cx="9303819" cy="7591839"/>
          </a:xfrm>
        </p:spPr>
        <p:txBody>
          <a:bodyPr>
            <a:normAutofit/>
          </a:bodyPr>
          <a:lstStyle/>
          <a:p>
            <a:r>
              <a:rPr lang="en-US" sz="4800" dirty="0"/>
              <a:t>   </a:t>
            </a:r>
            <a:r>
              <a:rPr lang="en-US" sz="2000" dirty="0"/>
              <a:t/>
            </a:r>
            <a:br>
              <a:rPr lang="en-US" sz="2000" dirty="0"/>
            </a:br>
            <a:r>
              <a:rPr lang="en-US" sz="2000" dirty="0"/>
              <a:t>Project G</a:t>
            </a:r>
            <a:br>
              <a:rPr lang="en-US" sz="2000" dirty="0"/>
            </a:br>
            <a:r>
              <a:rPr lang="en-US" sz="2000" dirty="0" err="1"/>
              <a:t>Dept.of</a:t>
            </a:r>
            <a:r>
              <a:rPr lang="en-US" sz="2000" dirty="0"/>
              <a:t> C</a:t>
            </a:r>
            <a:r>
              <a:rPr lang="en-IN" sz="2000" dirty="0"/>
              <a:t/>
            </a:r>
            <a:br>
              <a:rPr lang="en-IN" sz="2000" dirty="0"/>
            </a:br>
            <a:endParaRPr lang="en-US" sz="2000" dirty="0">
              <a:solidFill>
                <a:schemeClr val="bg2">
                  <a:lumMod val="25000"/>
                </a:schemeClr>
              </a:solidFill>
            </a:endParaRPr>
          </a:p>
        </p:txBody>
      </p:sp>
      <p:pic>
        <p:nvPicPr>
          <p:cNvPr id="18" name="Picture 17">
            <a:extLst>
              <a:ext uri="{FF2B5EF4-FFF2-40B4-BE49-F238E27FC236}">
                <a16:creationId xmlns:a16="http://schemas.microsoft.com/office/drawing/2014/main" id="{645CE8C4-F5BF-B9B5-EFFA-1CFEFBAAAE21}"/>
              </a:ext>
            </a:extLst>
          </p:cNvPr>
          <p:cNvPicPr>
            <a:picLocks noChangeAspect="1"/>
          </p:cNvPicPr>
          <p:nvPr/>
        </p:nvPicPr>
        <p:blipFill>
          <a:blip r:embed="rId3"/>
          <a:stretch>
            <a:fillRect/>
          </a:stretch>
        </p:blipFill>
        <p:spPr>
          <a:xfrm>
            <a:off x="2448310" y="361100"/>
            <a:ext cx="7027729" cy="971807"/>
          </a:xfrm>
          <a:prstGeom prst="rect">
            <a:avLst/>
          </a:prstGeom>
        </p:spPr>
      </p:pic>
      <p:sp>
        <p:nvSpPr>
          <p:cNvPr id="19" name="TextBox 9">
            <a:extLst>
              <a:ext uri="{FF2B5EF4-FFF2-40B4-BE49-F238E27FC236}">
                <a16:creationId xmlns:a16="http://schemas.microsoft.com/office/drawing/2014/main" id="{90AD8BF0-2297-C1AA-72C9-343F1B3B6774}"/>
              </a:ext>
            </a:extLst>
          </p:cNvPr>
          <p:cNvSpPr txBox="1"/>
          <p:nvPr/>
        </p:nvSpPr>
        <p:spPr>
          <a:xfrm>
            <a:off x="722206" y="1499742"/>
            <a:ext cx="10895161"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b="1" dirty="0">
                <a:latin typeface="Times New Roman" panose="02020603050405020304" pitchFamily="18" charset="0"/>
                <a:cs typeface="Times New Roman" panose="02020603050405020304" pitchFamily="18" charset="0"/>
              </a:rPr>
              <a:t>Department of Computer Science Engineering-Data Science</a:t>
            </a:r>
          </a:p>
        </p:txBody>
      </p:sp>
      <p:sp>
        <p:nvSpPr>
          <p:cNvPr id="20" name="Rectangle 19">
            <a:extLst>
              <a:ext uri="{FF2B5EF4-FFF2-40B4-BE49-F238E27FC236}">
                <a16:creationId xmlns:a16="http://schemas.microsoft.com/office/drawing/2014/main" id="{842EE39B-AA09-6816-7665-11D5352A051F}"/>
              </a:ext>
            </a:extLst>
          </p:cNvPr>
          <p:cNvSpPr/>
          <p:nvPr/>
        </p:nvSpPr>
        <p:spPr>
          <a:xfrm>
            <a:off x="2108524" y="3154937"/>
            <a:ext cx="7508274" cy="923330"/>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b="1" u="sng" dirty="0">
                <a:latin typeface="Times New Roman" panose="02020603050405020304" pitchFamily="18" charset="0"/>
                <a:ea typeface="Calibri" panose="020F0502020204030204" pitchFamily="34" charset="0"/>
                <a:cs typeface="Times New Roman" panose="02020603050405020304" pitchFamily="18" charset="0"/>
              </a:rPr>
              <a:t>Presented by</a:t>
            </a:r>
          </a:p>
          <a:p>
            <a:pPr algn="ctr"/>
            <a:endParaRPr lang="en-US" u="sng" dirty="0">
              <a:latin typeface="Times New Roman" panose="02020603050405020304" pitchFamily="18" charset="0"/>
              <a:ea typeface="Calibri" panose="020F0502020204030204" pitchFamily="34" charset="0"/>
              <a:cs typeface="Times New Roman" panose="02020603050405020304" pitchFamily="18" charset="0"/>
            </a:endParaRPr>
          </a:p>
          <a:p>
            <a:pPr algn="ctr"/>
            <a:endParaRPr lang="en-US" dirty="0">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20456BCF-6E10-B8BE-2EB9-9A89E84FB116}"/>
              </a:ext>
            </a:extLst>
          </p:cNvPr>
          <p:cNvSpPr/>
          <p:nvPr/>
        </p:nvSpPr>
        <p:spPr>
          <a:xfrm>
            <a:off x="4833940" y="5026788"/>
            <a:ext cx="2761998" cy="369332"/>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u="sng">
                <a:solidFill>
                  <a:srgbClr val="000000"/>
                </a:solidFill>
                <a:latin typeface="Times New Roman" panose="02020603050405020304" pitchFamily="18" charset="0"/>
                <a:ea typeface="Calibri" panose="020F0502020204030204" pitchFamily="34" charset="0"/>
                <a:cs typeface="Times New Roman" panose="02020603050405020304" pitchFamily="18" charset="0"/>
              </a:rPr>
              <a:t>Under the Guidance of </a:t>
            </a:r>
            <a:endParaRPr lang="en-US" b="1" u="sng">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A954F3A1-EF19-ECE6-01B8-1FB13AEABB36}"/>
              </a:ext>
            </a:extLst>
          </p:cNvPr>
          <p:cNvSpPr/>
          <p:nvPr/>
        </p:nvSpPr>
        <p:spPr>
          <a:xfrm>
            <a:off x="1161976" y="5441057"/>
            <a:ext cx="9303819" cy="923330"/>
          </a:xfrm>
          <a:prstGeom prst="rect">
            <a:avLst/>
          </a:prstGeom>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dirty="0">
                <a:latin typeface="Times New Roman" panose="02020603050405020304" pitchFamily="18" charset="0"/>
                <a:cs typeface="Times New Roman" panose="02020603050405020304" pitchFamily="18" charset="0"/>
              </a:rPr>
              <a:t>Mrs .V P </a:t>
            </a:r>
            <a:r>
              <a:rPr lang="en-GB" dirty="0" err="1">
                <a:latin typeface="Times New Roman" panose="02020603050405020304" pitchFamily="18" charset="0"/>
                <a:cs typeface="Times New Roman" panose="02020603050405020304" pitchFamily="18" charset="0"/>
              </a:rPr>
              <a:t>Anushya</a:t>
            </a:r>
            <a:r>
              <a:rPr lang="en-GB" dirty="0">
                <a:latin typeface="Times New Roman" panose="02020603050405020304" pitchFamily="18" charset="0"/>
                <a:cs typeface="Times New Roman" panose="02020603050405020304" pitchFamily="18" charset="0"/>
              </a:rPr>
              <a:t>
Project Guide
</a:t>
            </a:r>
            <a:r>
              <a:rPr lang="en-GB" dirty="0" err="1">
                <a:latin typeface="Times New Roman" panose="02020603050405020304" pitchFamily="18" charset="0"/>
                <a:cs typeface="Times New Roman" panose="02020603050405020304" pitchFamily="18" charset="0"/>
              </a:rPr>
              <a:t>Dept.of</a:t>
            </a:r>
            <a:r>
              <a:rPr lang="en-GB" dirty="0">
                <a:latin typeface="Times New Roman" panose="02020603050405020304" pitchFamily="18" charset="0"/>
                <a:cs typeface="Times New Roman" panose="02020603050405020304" pitchFamily="18" charset="0"/>
              </a:rPr>
              <a:t> CSE-DS</a:t>
            </a:r>
            <a:endParaRPr lang="en-US" dirty="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E5559FB1-AA09-ACF2-773E-BA73B9B47715}"/>
              </a:ext>
            </a:extLst>
          </p:cNvPr>
          <p:cNvSpPr/>
          <p:nvPr/>
        </p:nvSpPr>
        <p:spPr>
          <a:xfrm>
            <a:off x="7643563" y="5441057"/>
            <a:ext cx="3386461" cy="923330"/>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 Aradhana D</a:t>
            </a:r>
          </a:p>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Head of the Department </a:t>
            </a:r>
          </a:p>
          <a:p>
            <a:pPr algn="ctr"/>
            <a:r>
              <a:rPr lang="en-US" dirty="0">
                <a:solidFill>
                  <a:srgbClr val="000000"/>
                </a:solidFill>
                <a:latin typeface="Times New Roman" panose="02020603050405020304" pitchFamily="18" charset="0"/>
                <a:cs typeface="Times New Roman" panose="02020603050405020304" pitchFamily="18" charset="0"/>
              </a:rPr>
              <a:t>Dept. of CSE-DS</a:t>
            </a:r>
            <a:endParaRPr lang="en-US"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0C24E7B5-87C8-47C6-563E-90F503195D3B}"/>
              </a:ext>
            </a:extLst>
          </p:cNvPr>
          <p:cNvPicPr>
            <a:picLocks noChangeAspect="1"/>
          </p:cNvPicPr>
          <p:nvPr/>
        </p:nvPicPr>
        <p:blipFill rotWithShape="1">
          <a:blip r:embed="rId4"/>
          <a:srcRect l="6737" t="9425" r="9081" b="14499"/>
          <a:stretch>
            <a:fillRect/>
          </a:stretch>
        </p:blipFill>
        <p:spPr>
          <a:xfrm>
            <a:off x="9994721" y="325581"/>
            <a:ext cx="1969981" cy="1333500"/>
          </a:xfrm>
          <a:prstGeom prst="rect">
            <a:avLst/>
          </a:prstGeom>
        </p:spPr>
      </p:pic>
      <p:sp>
        <p:nvSpPr>
          <p:cNvPr id="25" name="TextBox 1">
            <a:extLst>
              <a:ext uri="{FF2B5EF4-FFF2-40B4-BE49-F238E27FC236}">
                <a16:creationId xmlns:a16="http://schemas.microsoft.com/office/drawing/2014/main" id="{DE74707F-AE64-3887-88FB-45D729B1FC8C}"/>
              </a:ext>
            </a:extLst>
          </p:cNvPr>
          <p:cNvSpPr txBox="1"/>
          <p:nvPr/>
        </p:nvSpPr>
        <p:spPr>
          <a:xfrm>
            <a:off x="2344851" y="2026872"/>
            <a:ext cx="7582919" cy="156966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dirty="0">
                <a:latin typeface="Times New Roman" panose="02020603050405020304" pitchFamily="18" charset="0"/>
                <a:cs typeface="Times New Roman" panose="02020603050405020304" pitchFamily="18" charset="0"/>
              </a:rPr>
              <a:t>A  Mini-Project Presentation on</a:t>
            </a:r>
          </a:p>
          <a:p>
            <a:pPr algn="ctr"/>
            <a:r>
              <a:rPr lang="en-US" sz="2400" dirty="0">
                <a:latin typeface="Times New Roman" panose="02020603050405020304" pitchFamily="18" charset="0"/>
                <a:cs typeface="Times New Roman" panose="02020603050405020304" pitchFamily="18" charset="0"/>
              </a:rPr>
              <a:t>“</a:t>
            </a:r>
            <a:r>
              <a:rPr lang="en-US" sz="2400" b="1" dirty="0">
                <a:latin typeface="Times New Roman"/>
                <a:cs typeface="Times New Roman"/>
              </a:rPr>
              <a:t>Digital Health Record Management System for migrant workers ”</a:t>
            </a:r>
          </a:p>
          <a:p>
            <a:pPr algn="ctr"/>
            <a:r>
              <a:rPr lang="en-US" sz="2400" b="1" dirty="0">
                <a:latin typeface="Times New Roman"/>
                <a:cs typeface="Times New Roman"/>
              </a:rPr>
              <a:t> </a:t>
            </a:r>
            <a:endParaRPr lang="en-IN" sz="2400" dirty="0">
              <a:solidFill>
                <a:schemeClr val="bg2"/>
              </a:solidFill>
              <a:latin typeface="Times New Roman" panose="02020603050405020304" pitchFamily="18" charset="0"/>
              <a:cs typeface="Times New Roman" panose="02020603050405020304" pitchFamily="18" charset="0"/>
            </a:endParaRPr>
          </a:p>
        </p:txBody>
      </p:sp>
      <p:graphicFrame>
        <p:nvGraphicFramePr>
          <p:cNvPr id="26" name="Table 25">
            <a:extLst>
              <a:ext uri="{FF2B5EF4-FFF2-40B4-BE49-F238E27FC236}">
                <a16:creationId xmlns:a16="http://schemas.microsoft.com/office/drawing/2014/main" id="{3C970249-224F-9894-CFEB-3AC4688AB43E}"/>
              </a:ext>
            </a:extLst>
          </p:cNvPr>
          <p:cNvGraphicFramePr>
            <a:graphicFrameLocks noGrp="1"/>
          </p:cNvGraphicFramePr>
          <p:nvPr>
            <p:extLst>
              <p:ext uri="{D42A27DB-BD31-4B8C-83A1-F6EECF244321}">
                <p14:modId xmlns:p14="http://schemas.microsoft.com/office/powerpoint/2010/main" val="1751799488"/>
              </p:ext>
            </p:extLst>
          </p:nvPr>
        </p:nvGraphicFramePr>
        <p:xfrm>
          <a:off x="4057650" y="3130522"/>
          <a:ext cx="4876800" cy="1828800"/>
        </p:xfrm>
        <a:graphic>
          <a:graphicData uri="http://schemas.openxmlformats.org/drawingml/2006/table">
            <a:tbl>
              <a:tblPr/>
              <a:tblGrid>
                <a:gridCol w="2438400">
                  <a:extLst>
                    <a:ext uri="{9D8B030D-6E8A-4147-A177-3AD203B41FA5}">
                      <a16:colId xmlns:a16="http://schemas.microsoft.com/office/drawing/2014/main" val="4009597774"/>
                    </a:ext>
                  </a:extLst>
                </a:gridCol>
                <a:gridCol w="2438400">
                  <a:extLst>
                    <a:ext uri="{9D8B030D-6E8A-4147-A177-3AD203B41FA5}">
                      <a16:colId xmlns:a16="http://schemas.microsoft.com/office/drawing/2014/main" val="2355046264"/>
                    </a:ext>
                  </a:extLst>
                </a:gridCol>
              </a:tblGrid>
              <a:tr h="0">
                <a:tc>
                  <a:txBody>
                    <a:bodyPr/>
                    <a:lstStyle/>
                    <a:p>
                      <a:pPr>
                        <a:buNone/>
                      </a:pPr>
                      <a:endParaRPr lang="en-IN"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951676487"/>
                  </a:ext>
                </a:extLst>
              </a:tr>
              <a:tr h="0">
                <a:tc>
                  <a:txBody>
                    <a:bodyPr/>
                    <a:lstStyle/>
                    <a:p>
                      <a:pPr>
                        <a:buNone/>
                      </a:pPr>
                      <a:r>
                        <a:rPr lang="en-IN" dirty="0">
                          <a:latin typeface="Times New Roman" panose="02020603050405020304" pitchFamily="18" charset="0"/>
                          <a:cs typeface="Times New Roman" panose="02020603050405020304" pitchFamily="18" charset="0"/>
                        </a:rPr>
                        <a:t>RANJITA M</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3BR23CD074</a:t>
                      </a:r>
                    </a:p>
                  </a:txBody>
                  <a:tcPr anchor="ctr">
                    <a:lnL>
                      <a:noFill/>
                    </a:lnL>
                    <a:lnR>
                      <a:noFill/>
                    </a:lnR>
                    <a:lnT>
                      <a:noFill/>
                    </a:lnT>
                    <a:lnB>
                      <a:noFill/>
                    </a:lnB>
                    <a:noFill/>
                  </a:tcPr>
                </a:tc>
                <a:extLst>
                  <a:ext uri="{0D108BD9-81ED-4DB2-BD59-A6C34878D82A}">
                    <a16:rowId xmlns:a16="http://schemas.microsoft.com/office/drawing/2014/main" val="1665690281"/>
                  </a:ext>
                </a:extLst>
              </a:tr>
              <a:tr h="0">
                <a:tc>
                  <a:txBody>
                    <a:bodyPr/>
                    <a:lstStyle/>
                    <a:p>
                      <a:pPr>
                        <a:buNone/>
                      </a:pPr>
                      <a:r>
                        <a:rPr lang="en-IN" dirty="0">
                          <a:latin typeface="Times New Roman" panose="02020603050405020304" pitchFamily="18" charset="0"/>
                          <a:cs typeface="Times New Roman" panose="02020603050405020304" pitchFamily="18" charset="0"/>
                        </a:rPr>
                        <a:t>S CHINNI RENUKA</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3BR23CD078</a:t>
                      </a:r>
                    </a:p>
                  </a:txBody>
                  <a:tcPr anchor="ctr">
                    <a:lnL>
                      <a:noFill/>
                    </a:lnL>
                    <a:lnR>
                      <a:noFill/>
                    </a:lnR>
                    <a:lnT>
                      <a:noFill/>
                    </a:lnT>
                    <a:lnB>
                      <a:noFill/>
                    </a:lnB>
                    <a:noFill/>
                  </a:tcPr>
                </a:tc>
                <a:extLst>
                  <a:ext uri="{0D108BD9-81ED-4DB2-BD59-A6C34878D82A}">
                    <a16:rowId xmlns:a16="http://schemas.microsoft.com/office/drawing/2014/main" val="1575688421"/>
                  </a:ext>
                </a:extLst>
              </a:tr>
              <a:tr h="0">
                <a:tc>
                  <a:txBody>
                    <a:bodyPr/>
                    <a:lstStyle/>
                    <a:p>
                      <a:pPr>
                        <a:buNone/>
                      </a:pPr>
                      <a:r>
                        <a:rPr lang="en-IN" dirty="0">
                          <a:latin typeface="Times New Roman" panose="02020603050405020304" pitchFamily="18" charset="0"/>
                          <a:cs typeface="Times New Roman" panose="02020603050405020304" pitchFamily="18" charset="0"/>
                        </a:rPr>
                        <a:t>S GAYATHRI</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3BR23CD080</a:t>
                      </a:r>
                    </a:p>
                  </a:txBody>
                  <a:tcPr anchor="ctr">
                    <a:lnL>
                      <a:noFill/>
                    </a:lnL>
                    <a:lnR>
                      <a:noFill/>
                    </a:lnR>
                    <a:lnT>
                      <a:noFill/>
                    </a:lnT>
                    <a:lnB>
                      <a:noFill/>
                    </a:lnB>
                    <a:noFill/>
                  </a:tcPr>
                </a:tc>
                <a:extLst>
                  <a:ext uri="{0D108BD9-81ED-4DB2-BD59-A6C34878D82A}">
                    <a16:rowId xmlns:a16="http://schemas.microsoft.com/office/drawing/2014/main" val="1827745211"/>
                  </a:ext>
                </a:extLst>
              </a:tr>
              <a:tr h="0">
                <a:tc>
                  <a:txBody>
                    <a:bodyPr/>
                    <a:lstStyle/>
                    <a:p>
                      <a:pPr>
                        <a:buNone/>
                      </a:pPr>
                      <a:r>
                        <a:rPr lang="en-IN" dirty="0">
                          <a:latin typeface="Times New Roman" panose="02020603050405020304" pitchFamily="18" charset="0"/>
                          <a:cs typeface="Times New Roman" panose="02020603050405020304" pitchFamily="18" charset="0"/>
                        </a:rPr>
                        <a:t>TARUNASHREE</a:t>
                      </a:r>
                    </a:p>
                  </a:txBody>
                  <a:tcPr anchor="ctr">
                    <a:lnL>
                      <a:noFill/>
                    </a:lnL>
                    <a:lnR>
                      <a:noFill/>
                    </a:lnR>
                    <a:lnT>
                      <a:noFill/>
                    </a:lnT>
                    <a:lnB>
                      <a:noFill/>
                    </a:lnB>
                    <a:noFill/>
                  </a:tcPr>
                </a:tc>
                <a:tc>
                  <a:txBody>
                    <a:bodyPr/>
                    <a:lstStyle/>
                    <a:p>
                      <a:pPr>
                        <a:buNone/>
                      </a:pPr>
                      <a:r>
                        <a:rPr lang="en-IN" dirty="0">
                          <a:latin typeface="Times New Roman" panose="02020603050405020304" pitchFamily="18" charset="0"/>
                          <a:cs typeface="Times New Roman" panose="02020603050405020304" pitchFamily="18" charset="0"/>
                        </a:rPr>
                        <a:t>3BR23CD082</a:t>
                      </a:r>
                    </a:p>
                  </a:txBody>
                  <a:tcPr anchor="ctr">
                    <a:lnL>
                      <a:noFill/>
                    </a:lnL>
                    <a:lnR>
                      <a:noFill/>
                    </a:lnR>
                    <a:lnT>
                      <a:noFill/>
                    </a:lnT>
                    <a:lnB>
                      <a:noFill/>
                    </a:lnB>
                    <a:noFill/>
                  </a:tcPr>
                </a:tc>
                <a:extLst>
                  <a:ext uri="{0D108BD9-81ED-4DB2-BD59-A6C34878D82A}">
                    <a16:rowId xmlns:a16="http://schemas.microsoft.com/office/drawing/2014/main" val="1170148300"/>
                  </a:ext>
                </a:extLst>
              </a:tr>
            </a:tbl>
          </a:graphicData>
        </a:graphic>
      </p:graphicFrame>
      <p:pic>
        <p:nvPicPr>
          <p:cNvPr id="27" name="Picture 26">
            <a:extLst>
              <a:ext uri="{FF2B5EF4-FFF2-40B4-BE49-F238E27FC236}">
                <a16:creationId xmlns:a16="http://schemas.microsoft.com/office/drawing/2014/main" id="{F11E6D29-417D-2BA5-9022-534848143E5F}"/>
              </a:ext>
            </a:extLst>
          </p:cNvPr>
          <p:cNvPicPr>
            <a:picLocks noChangeAspect="1"/>
          </p:cNvPicPr>
          <p:nvPr/>
        </p:nvPicPr>
        <p:blipFill>
          <a:blip r:embed="rId5"/>
          <a:stretch>
            <a:fillRect/>
          </a:stretch>
        </p:blipFill>
        <p:spPr>
          <a:xfrm>
            <a:off x="145191" y="453960"/>
            <a:ext cx="2199660" cy="1108550"/>
          </a:xfrm>
          <a:prstGeom prst="rect">
            <a:avLst/>
          </a:prstGeom>
        </p:spPr>
      </p:pic>
      <p:sp>
        <p:nvSpPr>
          <p:cNvPr id="6" name="TextBox 5">
            <a:extLst>
              <a:ext uri="{FF2B5EF4-FFF2-40B4-BE49-F238E27FC236}">
                <a16:creationId xmlns:a16="http://schemas.microsoft.com/office/drawing/2014/main" id="{1F7C0467-CA6F-8402-93E3-53D9280EC03D}"/>
              </a:ext>
            </a:extLst>
          </p:cNvPr>
          <p:cNvSpPr txBox="1"/>
          <p:nvPr/>
        </p:nvSpPr>
        <p:spPr>
          <a:xfrm>
            <a:off x="1114617" y="5480710"/>
            <a:ext cx="2297518" cy="923330"/>
          </a:xfrm>
          <a:prstGeom prst="rect">
            <a:avLst/>
          </a:prstGeom>
          <a:noFill/>
        </p:spPr>
        <p:txBody>
          <a:bodyPr wrap="square">
            <a:spAutoFit/>
          </a:bodyPr>
          <a:lstStyle/>
          <a:p>
            <a:r>
              <a:rPr lang="en-GB" dirty="0" err="1">
                <a:solidFill>
                  <a:schemeClr val="tx1">
                    <a:lumMod val="65000"/>
                    <a:lumOff val="35000"/>
                  </a:schemeClr>
                </a:solidFill>
              </a:rPr>
              <a:t>Dr.</a:t>
            </a:r>
            <a:r>
              <a:rPr lang="en-GB" dirty="0">
                <a:solidFill>
                  <a:schemeClr val="tx1">
                    <a:lumMod val="65000"/>
                    <a:lumOff val="35000"/>
                  </a:schemeClr>
                </a:solidFill>
              </a:rPr>
              <a:t> </a:t>
            </a:r>
            <a:r>
              <a:rPr lang="en-GB" dirty="0" err="1">
                <a:solidFill>
                  <a:schemeClr val="tx1">
                    <a:lumMod val="65000"/>
                    <a:lumOff val="35000"/>
                  </a:schemeClr>
                </a:solidFill>
              </a:rPr>
              <a:t>Jagadish</a:t>
            </a:r>
            <a:r>
              <a:rPr lang="en-GB" dirty="0">
                <a:solidFill>
                  <a:schemeClr val="tx1">
                    <a:lumMod val="65000"/>
                    <a:lumOff val="35000"/>
                  </a:schemeClr>
                </a:solidFill>
              </a:rPr>
              <a:t> R.M
Project Coordinator
Dept. Of CSE-DS</a:t>
            </a:r>
            <a:endParaRPr lang="en-IN" dirty="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CA8C95-8EBA-6C78-6095-A1DB7365DC9F}"/>
              </a:ext>
            </a:extLst>
          </p:cNvPr>
          <p:cNvSpPr txBox="1"/>
          <p:nvPr/>
        </p:nvSpPr>
        <p:spPr>
          <a:xfrm>
            <a:off x="795131" y="499961"/>
            <a:ext cx="6102626" cy="5324535"/>
          </a:xfrm>
          <a:prstGeom prst="rect">
            <a:avLst/>
          </a:prstGeom>
          <a:noFill/>
        </p:spPr>
        <p:txBody>
          <a:bodyPr wrap="square" lIns="91440" tIns="45720" rIns="91440" bIns="45720" anchor="t">
            <a:spAutoFit/>
          </a:bodyPr>
          <a:lstStyle/>
          <a:p>
            <a:r>
              <a:rPr lang="en-US" sz="4000" dirty="0">
                <a:solidFill>
                  <a:schemeClr val="accent1"/>
                </a:solidFill>
              </a:rPr>
              <a:t>Contents:</a:t>
            </a:r>
            <a:r>
              <a:rPr lang="en-US" sz="4400" dirty="0"/>
              <a:t/>
            </a:r>
            <a:br>
              <a:rPr lang="en-US" sz="4400" dirty="0"/>
            </a:br>
            <a:r>
              <a:rPr lang="en-US" sz="2000" dirty="0"/>
              <a:t/>
            </a:r>
            <a:br>
              <a:rPr lang="en-US" sz="2000" dirty="0"/>
            </a:br>
            <a:r>
              <a:rPr lang="en-US" sz="2000" dirty="0">
                <a:solidFill>
                  <a:schemeClr val="bg2">
                    <a:lumMod val="10000"/>
                  </a:schemeClr>
                </a:solidFill>
              </a:rPr>
              <a:t>        </a:t>
            </a:r>
            <a:r>
              <a:rPr lang="en-US" sz="2000" dirty="0">
                <a:solidFill>
                  <a:schemeClr val="tx1">
                    <a:lumMod val="95000"/>
                    <a:lumOff val="5000"/>
                  </a:schemeClr>
                </a:solidFill>
              </a:rPr>
              <a:t>1.</a:t>
            </a:r>
            <a:r>
              <a:rPr lang="en-US" sz="2000" dirty="0">
                <a:solidFill>
                  <a:schemeClr val="tx1">
                    <a:lumMod val="95000"/>
                    <a:lumOff val="5000"/>
                  </a:schemeClr>
                </a:solidFill>
                <a:latin typeface="Times New Roman"/>
                <a:cs typeface="Times New Roman"/>
              </a:rPr>
              <a:t>Abstract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2.Objectives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3.Literature Survey</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4.Problem Statement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5.Scope of the Project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6.Software and Hardware Requirements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7.Functional and Non-Functional Requirements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8.Description of Modules</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9.Design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10.Implementation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11.Testing</a:t>
            </a:r>
          </a:p>
          <a:p>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12.Result</a:t>
            </a:r>
            <a:br>
              <a:rPr lang="en-US"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000" dirty="0">
                <a:solidFill>
                  <a:schemeClr val="tx1">
                    <a:lumMod val="95000"/>
                    <a:lumOff val="5000"/>
                  </a:schemeClr>
                </a:solidFill>
                <a:latin typeface="Times New Roman"/>
                <a:cs typeface="Times New Roman"/>
              </a:rPr>
              <a:t>         13.Conclusion</a:t>
            </a:r>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
            </a:r>
            <a:br>
              <a:rPr lang="en-IN" sz="2000" dirty="0">
                <a:solidFill>
                  <a:schemeClr val="tx1">
                    <a:lumMod val="95000"/>
                    <a:lumOff val="5000"/>
                  </a:schemeClr>
                </a:solidFill>
                <a:latin typeface="Times New Roman" panose="02020603050405020304" pitchFamily="18" charset="0"/>
                <a:cs typeface="Times New Roman" panose="02020603050405020304" pitchFamily="18" charset="0"/>
              </a:rPr>
            </a:br>
            <a:r>
              <a:rPr lang="en-IN" sz="2000">
                <a:solidFill>
                  <a:schemeClr val="tx1">
                    <a:lumMod val="95000"/>
                    <a:lumOff val="5000"/>
                  </a:schemeClr>
                </a:solidFill>
                <a:latin typeface="Times New Roman"/>
                <a:cs typeface="Times New Roman"/>
              </a:rPr>
              <a:t>         14.</a:t>
            </a:r>
            <a:r>
              <a:rPr lang="en-IN" sz="2000" dirty="0">
                <a:solidFill>
                  <a:schemeClr val="tx1">
                    <a:lumMod val="95000"/>
                    <a:lumOff val="5000"/>
                  </a:schemeClr>
                </a:solidFill>
                <a:latin typeface="Times New Roman"/>
                <a:cs typeface="Times New Roman"/>
              </a:rPr>
              <a:t>References</a:t>
            </a:r>
            <a:endParaRPr lang="en-US" sz="2000" dirty="0">
              <a:solidFill>
                <a:schemeClr val="tx1">
                  <a:lumMod val="95000"/>
                  <a:lumOff val="5000"/>
                </a:schemeClr>
              </a:solidFill>
              <a:latin typeface="Trebuchet MS" panose="020B0603020202020204"/>
              <a:cs typeface="Times New Roman"/>
            </a:endParaRPr>
          </a:p>
        </p:txBody>
      </p:sp>
    </p:spTree>
    <p:extLst>
      <p:ext uri="{BB962C8B-B14F-4D97-AF65-F5344CB8AC3E}">
        <p14:creationId xmlns:p14="http://schemas.microsoft.com/office/powerpoint/2010/main" val="310841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dirty="0"/>
              <a:t>Abstract</a:t>
            </a:r>
          </a:p>
        </p:txBody>
      </p:sp>
      <p:sp>
        <p:nvSpPr>
          <p:cNvPr id="3" name="Content Placeholder 2"/>
          <p:cNvSpPr>
            <a:spLocks noGrp="1"/>
          </p:cNvSpPr>
          <p:nvPr>
            <p:ph idx="1"/>
          </p:nvPr>
        </p:nvSpPr>
        <p:spPr>
          <a:xfrm>
            <a:off x="477078" y="1590262"/>
            <a:ext cx="8796924" cy="4142988"/>
          </a:xfrm>
        </p:spPr>
        <p:txBody>
          <a:bodyPr vert="horz" lIns="91440" tIns="45720" rIns="91440" bIns="45720" rtlCol="0" anchor="t">
            <a:normAutofit/>
          </a:bodyPr>
          <a:lstStyle/>
          <a:p>
            <a:pPr algn="just"/>
            <a:r>
              <a:rPr lang="en-US" sz="2200" dirty="0">
                <a:solidFill>
                  <a:schemeClr val="tx1">
                    <a:lumMod val="95000"/>
                    <a:lumOff val="5000"/>
                  </a:schemeClr>
                </a:solidFill>
                <a:latin typeface="Times New Roman"/>
                <a:ea typeface="+mn-lt"/>
                <a:cs typeface="+mn-lt"/>
              </a:rPr>
              <a:t>The </a:t>
            </a:r>
            <a:r>
              <a:rPr lang="en-US" sz="2200" i="1" dirty="0">
                <a:solidFill>
                  <a:schemeClr val="tx1">
                    <a:lumMod val="95000"/>
                    <a:lumOff val="5000"/>
                  </a:schemeClr>
                </a:solidFill>
                <a:latin typeface="Times New Roman"/>
                <a:ea typeface="+mn-lt"/>
                <a:cs typeface="+mn-lt"/>
              </a:rPr>
              <a:t>Digital Health Record Management System for Migrant Workers</a:t>
            </a:r>
            <a:r>
              <a:rPr lang="en-US" sz="2200" dirty="0">
                <a:solidFill>
                  <a:schemeClr val="tx1">
                    <a:lumMod val="95000"/>
                    <a:lumOff val="5000"/>
                  </a:schemeClr>
                </a:solidFill>
                <a:latin typeface="Times New Roman"/>
                <a:ea typeface="+mn-lt"/>
                <a:cs typeface="+mn-lt"/>
              </a:rPr>
              <a:t> is designed to create a centralized and accessible platform for storing, managing, and retrieving the medical records of migrant workers. By digitizing health records, quick access to medical data for both patients and healthcare providers, and secure data storage using authentication mechanisms. The system integrates modules for registration, record management, and hospital access, making it easier to update and share medical information efficiently.</a:t>
            </a:r>
            <a:endParaRPr lang="en-US" sz="2200" dirty="0">
              <a:solidFill>
                <a:schemeClr val="tx1">
                  <a:lumMod val="95000"/>
                  <a:lumOff val="5000"/>
                </a:schemeClr>
              </a:solidFill>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34720" y="609600"/>
            <a:ext cx="8596668" cy="1320800"/>
          </a:xfrm>
        </p:spPr>
        <p:txBody>
          <a:bodyPr>
            <a:normAutofit/>
          </a:bodyPr>
          <a:lstStyle/>
          <a:p>
            <a:r>
              <a:rPr lang="en-US" sz="4400" dirty="0"/>
              <a:t>Objectives</a:t>
            </a:r>
          </a:p>
        </p:txBody>
      </p:sp>
      <p:sp>
        <p:nvSpPr>
          <p:cNvPr id="3" name="Content Placeholder 2"/>
          <p:cNvSpPr>
            <a:spLocks noGrp="1"/>
          </p:cNvSpPr>
          <p:nvPr>
            <p:ph idx="1"/>
          </p:nvPr>
        </p:nvSpPr>
        <p:spPr>
          <a:xfrm>
            <a:off x="758939" y="1713103"/>
            <a:ext cx="10315158" cy="4577050"/>
          </a:xfrm>
        </p:spPr>
        <p:txBody>
          <a:bodyPr vert="horz" lIns="91440" tIns="45720" rIns="91440" bIns="45720" rtlCol="0" anchor="t">
            <a:normAutofit/>
          </a:bodyPr>
          <a:lstStyle/>
          <a:p>
            <a:pPr algn="just"/>
            <a:r>
              <a:rPr lang="en-US" sz="2200" dirty="0">
                <a:solidFill>
                  <a:schemeClr val="tx1">
                    <a:lumMod val="95000"/>
                    <a:lumOff val="5000"/>
                  </a:schemeClr>
                </a:solidFill>
                <a:latin typeface="Times New Roman"/>
                <a:ea typeface="+mn-lt"/>
                <a:cs typeface="Times New Roman"/>
              </a:rPr>
              <a:t>To develop a secure and centralized digital platform for storing and managing </a:t>
            </a:r>
            <a:endParaRPr lang="en-US">
              <a:solidFill>
                <a:schemeClr val="tx1">
                  <a:lumMod val="95000"/>
                  <a:lumOff val="5000"/>
                </a:schemeClr>
              </a:solidFill>
            </a:endParaRPr>
          </a:p>
          <a:p>
            <a:pPr marL="0" indent="0" algn="just">
              <a:buNone/>
            </a:pPr>
            <a:r>
              <a:rPr lang="en-US" sz="2200" dirty="0">
                <a:solidFill>
                  <a:schemeClr val="tx1">
                    <a:lumMod val="95000"/>
                    <a:lumOff val="5000"/>
                  </a:schemeClr>
                </a:solidFill>
                <a:latin typeface="Times New Roman"/>
                <a:ea typeface="+mn-lt"/>
                <a:cs typeface="Times New Roman"/>
              </a:rPr>
              <a:t>      migrant workers’ health records.</a:t>
            </a:r>
          </a:p>
          <a:p>
            <a:pPr algn="just"/>
            <a:r>
              <a:rPr lang="en-US" sz="2200" dirty="0">
                <a:solidFill>
                  <a:schemeClr val="tx1">
                    <a:lumMod val="95000"/>
                    <a:lumOff val="5000"/>
                  </a:schemeClr>
                </a:solidFill>
                <a:latin typeface="Times New Roman"/>
                <a:ea typeface="+mn-lt"/>
                <a:cs typeface="Times New Roman"/>
              </a:rPr>
              <a:t>To enable quick access and real-time updating of medical information by both healthcare providers and workers.</a:t>
            </a:r>
          </a:p>
          <a:p>
            <a:pPr algn="just"/>
            <a:r>
              <a:rPr lang="en-US" sz="2200" dirty="0">
                <a:solidFill>
                  <a:schemeClr val="tx1">
                    <a:lumMod val="95000"/>
                    <a:lumOff val="5000"/>
                  </a:schemeClr>
                </a:solidFill>
                <a:latin typeface="Times New Roman"/>
                <a:ea typeface="+mn-lt"/>
                <a:cs typeface="Times New Roman"/>
              </a:rPr>
              <a:t>To ensure data privacy, authentication, and easy retrieval of health history across different locations.</a:t>
            </a:r>
          </a:p>
          <a:p>
            <a:pPr algn="just"/>
            <a:r>
              <a:rPr lang="en-US" sz="2200" dirty="0">
                <a:solidFill>
                  <a:schemeClr val="tx1">
                    <a:lumMod val="95000"/>
                    <a:lumOff val="5000"/>
                  </a:schemeClr>
                </a:solidFill>
                <a:latin typeface="Times New Roman"/>
                <a:ea typeface="+mn-lt"/>
                <a:cs typeface="Times New Roman"/>
              </a:rPr>
              <a:t>To support continuous healthcare and better medical decision-making through organized digital records.</a:t>
            </a:r>
          </a:p>
          <a:p>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DECC-8C24-5D31-A138-B221D0148747}"/>
              </a:ext>
            </a:extLst>
          </p:cNvPr>
          <p:cNvSpPr>
            <a:spLocks noGrp="1"/>
          </p:cNvSpPr>
          <p:nvPr>
            <p:ph type="title"/>
          </p:nvPr>
        </p:nvSpPr>
        <p:spPr>
          <a:xfrm>
            <a:off x="0" y="0"/>
            <a:ext cx="9274002" cy="685800"/>
          </a:xfrm>
        </p:spPr>
        <p:txBody>
          <a:bodyPr>
            <a:normAutofit fontScale="90000"/>
          </a:bodyPr>
          <a:lstStyle/>
          <a:p>
            <a:r>
              <a:rPr lang="en-US" sz="4400" dirty="0"/>
              <a:t>Literature Survey</a:t>
            </a:r>
            <a:endParaRPr lang="en-US" sz="4400" dirty="0">
              <a:solidFill>
                <a:srgbClr val="000000"/>
              </a:solidFill>
            </a:endParaRPr>
          </a:p>
        </p:txBody>
      </p:sp>
      <p:graphicFrame>
        <p:nvGraphicFramePr>
          <p:cNvPr id="10" name="Table 9">
            <a:extLst>
              <a:ext uri="{FF2B5EF4-FFF2-40B4-BE49-F238E27FC236}">
                <a16:creationId xmlns:a16="http://schemas.microsoft.com/office/drawing/2014/main" id="{4A125143-D725-15C5-539E-946B74F71A77}"/>
              </a:ext>
            </a:extLst>
          </p:cNvPr>
          <p:cNvGraphicFramePr>
            <a:graphicFrameLocks noGrp="1"/>
          </p:cNvGraphicFramePr>
          <p:nvPr>
            <p:extLst>
              <p:ext uri="{D42A27DB-BD31-4B8C-83A1-F6EECF244321}">
                <p14:modId xmlns:p14="http://schemas.microsoft.com/office/powerpoint/2010/main" val="13901490"/>
              </p:ext>
            </p:extLst>
          </p:nvPr>
        </p:nvGraphicFramePr>
        <p:xfrm>
          <a:off x="0" y="685800"/>
          <a:ext cx="12192000" cy="6732342"/>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379616864"/>
                    </a:ext>
                  </a:extLst>
                </a:gridCol>
                <a:gridCol w="2421835">
                  <a:extLst>
                    <a:ext uri="{9D8B030D-6E8A-4147-A177-3AD203B41FA5}">
                      <a16:colId xmlns:a16="http://schemas.microsoft.com/office/drawing/2014/main" val="559082664"/>
                    </a:ext>
                  </a:extLst>
                </a:gridCol>
                <a:gridCol w="2524539">
                  <a:extLst>
                    <a:ext uri="{9D8B030D-6E8A-4147-A177-3AD203B41FA5}">
                      <a16:colId xmlns:a16="http://schemas.microsoft.com/office/drawing/2014/main" val="2178508905"/>
                    </a:ext>
                  </a:extLst>
                </a:gridCol>
                <a:gridCol w="2368826">
                  <a:extLst>
                    <a:ext uri="{9D8B030D-6E8A-4147-A177-3AD203B41FA5}">
                      <a16:colId xmlns:a16="http://schemas.microsoft.com/office/drawing/2014/main" val="1594810701"/>
                    </a:ext>
                  </a:extLst>
                </a:gridCol>
                <a:gridCol w="2438400">
                  <a:extLst>
                    <a:ext uri="{9D8B030D-6E8A-4147-A177-3AD203B41FA5}">
                      <a16:colId xmlns:a16="http://schemas.microsoft.com/office/drawing/2014/main" val="4170766968"/>
                    </a:ext>
                  </a:extLst>
                </a:gridCol>
              </a:tblGrid>
              <a:tr h="585415">
                <a:tc>
                  <a:txBody>
                    <a:bodyPr/>
                    <a:lstStyle/>
                    <a:p>
                      <a:r>
                        <a:rPr lang="en-US" dirty="0"/>
                        <a:t>S. No.</a:t>
                      </a:r>
                    </a:p>
                  </a:txBody>
                  <a:tcPr/>
                </a:tc>
                <a:tc>
                  <a:txBody>
                    <a:bodyPr/>
                    <a:lstStyle/>
                    <a:p>
                      <a:r>
                        <a:rPr lang="en-US" dirty="0"/>
                        <a:t>Author / Year</a:t>
                      </a:r>
                    </a:p>
                  </a:txBody>
                  <a:tcPr/>
                </a:tc>
                <a:tc>
                  <a:txBody>
                    <a:bodyPr/>
                    <a:lstStyle/>
                    <a:p>
                      <a:r>
                        <a:rPr lang="en-US" dirty="0"/>
                        <a:t>Title / Source</a:t>
                      </a:r>
                    </a:p>
                  </a:txBody>
                  <a:tcPr/>
                </a:tc>
                <a:tc>
                  <a:txBody>
                    <a:bodyPr/>
                    <a:lstStyle/>
                    <a:p>
                      <a:r>
                        <a:rPr lang="en-US" dirty="0"/>
                        <a:t>Key Findings / Contributions</a:t>
                      </a:r>
                    </a:p>
                  </a:txBody>
                  <a:tcPr/>
                </a:tc>
                <a:tc>
                  <a:txBody>
                    <a:bodyPr/>
                    <a:lstStyle/>
                    <a:p>
                      <a:r>
                        <a:rPr lang="en-US" dirty="0"/>
                        <a:t>Relevance to Project</a:t>
                      </a:r>
                    </a:p>
                  </a:txBody>
                  <a:tcPr/>
                </a:tc>
                <a:extLst>
                  <a:ext uri="{0D108BD9-81ED-4DB2-BD59-A6C34878D82A}">
                    <a16:rowId xmlns:a16="http://schemas.microsoft.com/office/drawing/2014/main" val="2425938382"/>
                  </a:ext>
                </a:extLst>
              </a:tr>
              <a:tr h="2090766">
                <a:tc>
                  <a:txBody>
                    <a:bodyPr/>
                    <a:lstStyle/>
                    <a:p>
                      <a:r>
                        <a:rPr lang="en-US" dirty="0"/>
                        <a:t>1.</a:t>
                      </a:r>
                    </a:p>
                  </a:txBody>
                  <a:tcPr/>
                </a:tc>
                <a:tc>
                  <a:txBody>
                    <a:bodyPr/>
                    <a:lstStyle/>
                    <a:p>
                      <a:r>
                        <a:rPr lang="da-DK" dirty="0"/>
                        <a:t>Saleh S. et al., 2020</a:t>
                      </a:r>
                      <a:endParaRPr lang="en-US" dirty="0"/>
                    </a:p>
                  </a:txBody>
                  <a:tcPr/>
                </a:tc>
                <a:tc>
                  <a:txBody>
                    <a:bodyPr/>
                    <a:lstStyle/>
                    <a:p>
                      <a:r>
                        <a:rPr lang="en-US" dirty="0" err="1"/>
                        <a:t>Sijilli</a:t>
                      </a:r>
                      <a:r>
                        <a:rPr lang="en-US" dirty="0"/>
                        <a:t>: A Cloud- Based Electronic Health Record for Refugees</a:t>
                      </a:r>
                    </a:p>
                  </a:txBody>
                  <a:tcPr/>
                </a:tc>
                <a:tc>
                  <a:txBody>
                    <a:bodyPr/>
                    <a:lstStyle/>
                    <a:p>
                      <a:r>
                        <a:rPr lang="en-US" dirty="0"/>
                        <a:t>Proposed a portable and secure EHR platform using cloud storage and QR access for displaced populations.</a:t>
                      </a:r>
                    </a:p>
                  </a:txBody>
                  <a:tcPr/>
                </a:tc>
                <a:tc>
                  <a:txBody>
                    <a:bodyPr/>
                    <a:lstStyle/>
                    <a:p>
                      <a:r>
                        <a:rPr lang="en-US" dirty="0"/>
                        <a:t>Demonstrates feasibility of cloud-based health records for mobile populations like migrant workers</a:t>
                      </a:r>
                    </a:p>
                  </a:txBody>
                  <a:tcPr/>
                </a:tc>
                <a:extLst>
                  <a:ext uri="{0D108BD9-81ED-4DB2-BD59-A6C34878D82A}">
                    <a16:rowId xmlns:a16="http://schemas.microsoft.com/office/drawing/2014/main" val="1536367735"/>
                  </a:ext>
                </a:extLst>
              </a:tr>
              <a:tr h="1588982">
                <a:tc>
                  <a:txBody>
                    <a:bodyPr/>
                    <a:lstStyle/>
                    <a:p>
                      <a:r>
                        <a:rPr lang="en-US" dirty="0"/>
                        <a:t>2.</a:t>
                      </a:r>
                    </a:p>
                  </a:txBody>
                  <a:tcPr/>
                </a:tc>
                <a:tc>
                  <a:txBody>
                    <a:bodyPr/>
                    <a:lstStyle/>
                    <a:p>
                      <a:r>
                        <a:rPr lang="da-DK" dirty="0"/>
                        <a:t>Ndlovu K. et al., 2021</a:t>
                      </a:r>
                      <a:endParaRPr lang="en-US" dirty="0"/>
                    </a:p>
                  </a:txBody>
                  <a:tcPr/>
                </a:tc>
                <a:tc>
                  <a:txBody>
                    <a:bodyPr/>
                    <a:lstStyle/>
                    <a:p>
                      <a:r>
                        <a:rPr lang="en-US" dirty="0"/>
                        <a:t>Interoperability Challenges in Linking mHealth Apps to the Record Systems</a:t>
                      </a:r>
                    </a:p>
                  </a:txBody>
                  <a:tcPr/>
                </a:tc>
                <a:tc>
                  <a:txBody>
                    <a:bodyPr/>
                    <a:lstStyle/>
                    <a:p>
                      <a:r>
                        <a:rPr lang="en-US" dirty="0"/>
                        <a:t>Highlighted technical issues in connecting mobile apps with hospital EHRs using HL7/FHIR Standards.</a:t>
                      </a:r>
                    </a:p>
                  </a:txBody>
                  <a:tcPr/>
                </a:tc>
                <a:tc>
                  <a:txBody>
                    <a:bodyPr/>
                    <a:lstStyle/>
                    <a:p>
                      <a:r>
                        <a:rPr lang="en-US" dirty="0"/>
                        <a:t>Helps </a:t>
                      </a:r>
                      <a:r>
                        <a:rPr lang="en-US" dirty="0" err="1"/>
                        <a:t>designdatasharing</a:t>
                      </a:r>
                      <a:r>
                        <a:rPr lang="en-US" dirty="0"/>
                        <a:t> features and  integration between migrant health apps and hospitals.</a:t>
                      </a:r>
                    </a:p>
                  </a:txBody>
                  <a:tcPr/>
                </a:tc>
                <a:extLst>
                  <a:ext uri="{0D108BD9-81ED-4DB2-BD59-A6C34878D82A}">
                    <a16:rowId xmlns:a16="http://schemas.microsoft.com/office/drawing/2014/main" val="244716736"/>
                  </a:ext>
                </a:extLst>
              </a:tr>
              <a:tr h="1588982">
                <a:tc>
                  <a:txBody>
                    <a:bodyPr/>
                    <a:lstStyle/>
                    <a:p>
                      <a:r>
                        <a:rPr lang="en-US" dirty="0"/>
                        <a:t>3.</a:t>
                      </a:r>
                    </a:p>
                  </a:txBody>
                  <a:tcPr/>
                </a:tc>
                <a:tc>
                  <a:txBody>
                    <a:bodyPr/>
                    <a:lstStyle/>
                    <a:p>
                      <a:r>
                        <a:rPr lang="da-DK" dirty="0"/>
                        <a:t>Tensen P. et al., 2024</a:t>
                      </a:r>
                      <a:endParaRPr lang="en-US" dirty="0"/>
                    </a:p>
                  </a:txBody>
                  <a:tcPr/>
                </a:tc>
                <a:tc>
                  <a:txBody>
                    <a:bodyPr/>
                    <a:lstStyle/>
                    <a:p>
                      <a:r>
                        <a:rPr lang="en-US" dirty="0"/>
                        <a:t>Electronic Personal Health Records for Mobile Populations – Feasibility Study</a:t>
                      </a:r>
                    </a:p>
                  </a:txBody>
                  <a:tcPr/>
                </a:tc>
                <a:tc>
                  <a:txBody>
                    <a:bodyPr/>
                    <a:lstStyle/>
                    <a:p>
                      <a:r>
                        <a:rPr lang="en-US" dirty="0"/>
                        <a:t>Found user trust, language, and connectivity as key adoption challenges for digital health tools.</a:t>
                      </a:r>
                    </a:p>
                  </a:txBody>
                  <a:tcPr/>
                </a:tc>
                <a:tc>
                  <a:txBody>
                    <a:bodyPr/>
                    <a:lstStyle/>
                    <a:p>
                      <a:r>
                        <a:rPr lang="en-US" dirty="0"/>
                        <a:t>Guides user interface design and offline accessibility for migrant worker systems.</a:t>
                      </a:r>
                    </a:p>
                  </a:txBody>
                  <a:tcPr/>
                </a:tc>
                <a:extLst>
                  <a:ext uri="{0D108BD9-81ED-4DB2-BD59-A6C34878D82A}">
                    <a16:rowId xmlns:a16="http://schemas.microsoft.com/office/drawing/2014/main" val="3457438552"/>
                  </a:ext>
                </a:extLst>
              </a:tr>
              <a:tr h="526776">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144139013"/>
                  </a:ext>
                </a:extLst>
              </a:tr>
            </a:tbl>
          </a:graphicData>
        </a:graphic>
      </p:graphicFrame>
    </p:spTree>
    <p:extLst>
      <p:ext uri="{BB962C8B-B14F-4D97-AF65-F5344CB8AC3E}">
        <p14:creationId xmlns:p14="http://schemas.microsoft.com/office/powerpoint/2010/main" val="930701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400" dirty="0"/>
              <a:t>Problem Statement</a:t>
            </a:r>
          </a:p>
        </p:txBody>
      </p:sp>
      <p:sp>
        <p:nvSpPr>
          <p:cNvPr id="3" name="Content Placeholder 2"/>
          <p:cNvSpPr>
            <a:spLocks noGrp="1"/>
          </p:cNvSpPr>
          <p:nvPr>
            <p:ph idx="1"/>
          </p:nvPr>
        </p:nvSpPr>
        <p:spPr>
          <a:xfrm>
            <a:off x="228600" y="2027583"/>
            <a:ext cx="9045402" cy="4013779"/>
          </a:xfrm>
        </p:spPr>
        <p:txBody>
          <a:bodyPr>
            <a:normAutofit/>
          </a:bodyPr>
          <a:lstStyle/>
          <a:p>
            <a:r>
              <a:rPr lang="te-IN" sz="2800" dirty="0"/>
              <a:t>Digital</a:t>
            </a:r>
            <a:r>
              <a:rPr lang="en-US" sz="2800" dirty="0"/>
              <a:t> </a:t>
            </a:r>
            <a:r>
              <a:rPr lang="te-IN" sz="2800" dirty="0"/>
              <a:t>Health Record Management System for migrant workers aligned with sustainable development goals.</a:t>
            </a:r>
            <a:endParaRPr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9465" y="321366"/>
            <a:ext cx="8596668" cy="1320800"/>
          </a:xfrm>
        </p:spPr>
        <p:txBody>
          <a:bodyPr>
            <a:normAutofit/>
          </a:bodyPr>
          <a:lstStyle/>
          <a:p>
            <a:r>
              <a:rPr sz="4400" dirty="0"/>
              <a:t>Scope of the Project</a:t>
            </a:r>
          </a:p>
        </p:txBody>
      </p:sp>
      <p:sp>
        <p:nvSpPr>
          <p:cNvPr id="3" name="Content Placeholder 2"/>
          <p:cNvSpPr>
            <a:spLocks noGrp="1"/>
          </p:cNvSpPr>
          <p:nvPr>
            <p:ph idx="1"/>
          </p:nvPr>
        </p:nvSpPr>
        <p:spPr>
          <a:xfrm>
            <a:off x="498213" y="1642166"/>
            <a:ext cx="9164672" cy="4600188"/>
          </a:xfrm>
        </p:spPr>
        <p:txBody>
          <a:bodyPr vert="horz" lIns="91440" tIns="45720" rIns="91440" bIns="45720" rtlCol="0" anchor="t">
            <a:normAutofit/>
          </a:bodyPr>
          <a:lstStyle/>
          <a:p>
            <a:r>
              <a:rPr lang="en-US" sz="2400">
                <a:solidFill>
                  <a:schemeClr val="tx1">
                    <a:lumMod val="95000"/>
                    <a:lumOff val="5000"/>
                  </a:schemeClr>
                </a:solidFill>
                <a:latin typeface="Times New Roman"/>
                <a:ea typeface="+mn-lt"/>
                <a:cs typeface="Times New Roman"/>
              </a:rPr>
              <a:t>Provides a centralized digital platform for storing migrant workers’ health records.</a:t>
            </a:r>
          </a:p>
          <a:p>
            <a:r>
              <a:rPr lang="en-US" sz="2400">
                <a:solidFill>
                  <a:schemeClr val="tx1">
                    <a:lumMod val="95000"/>
                    <a:lumOff val="5000"/>
                  </a:schemeClr>
                </a:solidFill>
                <a:latin typeface="Times New Roman"/>
                <a:ea typeface="+mn-lt"/>
                <a:cs typeface="Times New Roman"/>
              </a:rPr>
              <a:t>Enables easy access to medical history for doctors and workers. </a:t>
            </a:r>
          </a:p>
          <a:p>
            <a:r>
              <a:rPr lang="en-US" sz="2400">
                <a:solidFill>
                  <a:schemeClr val="tx1">
                    <a:lumMod val="95000"/>
                    <a:lumOff val="5000"/>
                  </a:schemeClr>
                </a:solidFill>
                <a:latin typeface="Times New Roman"/>
                <a:ea typeface="+mn-lt"/>
                <a:cs typeface="Times New Roman"/>
              </a:rPr>
              <a:t>Ensures timely medical interventions through notifications and reminders. </a:t>
            </a:r>
            <a:endParaRPr lang="en-US" sz="2400">
              <a:solidFill>
                <a:schemeClr val="tx1">
                  <a:lumMod val="95000"/>
                  <a:lumOff val="5000"/>
                </a:schemeClr>
              </a:solidFill>
              <a:latin typeface="Times New Roman"/>
              <a:cs typeface="Times New Roman"/>
            </a:endParaRPr>
          </a:p>
          <a:p>
            <a:r>
              <a:rPr lang="en-US" sz="2400">
                <a:solidFill>
                  <a:schemeClr val="tx1">
                    <a:lumMod val="95000"/>
                    <a:lumOff val="5000"/>
                  </a:schemeClr>
                </a:solidFill>
                <a:latin typeface="Times New Roman"/>
                <a:ea typeface="+mn-lt"/>
                <a:cs typeface="Times New Roman"/>
              </a:rPr>
              <a:t>Can be extended for mobile access, government portal integration, and health analytics.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004" y="301487"/>
            <a:ext cx="8596668" cy="1320800"/>
          </a:xfrm>
        </p:spPr>
        <p:txBody>
          <a:bodyPr>
            <a:normAutofit/>
          </a:bodyPr>
          <a:lstStyle/>
          <a:p>
            <a:r>
              <a:rPr sz="4000" dirty="0"/>
              <a:t>Software/Hardware requirements</a:t>
            </a:r>
          </a:p>
        </p:txBody>
      </p:sp>
      <p:sp>
        <p:nvSpPr>
          <p:cNvPr id="5" name="Content Placeholder 4">
            <a:extLst>
              <a:ext uri="{FF2B5EF4-FFF2-40B4-BE49-F238E27FC236}">
                <a16:creationId xmlns:a16="http://schemas.microsoft.com/office/drawing/2014/main" id="{5D399488-9754-048A-7D9A-EDE2617A2E39}"/>
              </a:ext>
            </a:extLst>
          </p:cNvPr>
          <p:cNvSpPr>
            <a:spLocks noGrp="1"/>
          </p:cNvSpPr>
          <p:nvPr>
            <p:ph idx="1"/>
          </p:nvPr>
        </p:nvSpPr>
        <p:spPr>
          <a:xfrm>
            <a:off x="487017" y="1302025"/>
            <a:ext cx="10664687" cy="4031449"/>
          </a:xfrm>
        </p:spPr>
        <p:txBody>
          <a:bodyPr vert="horz" lIns="91440" tIns="45720" rIns="91440" bIns="45720" rtlCol="0" anchor="t">
            <a:noAutofit/>
          </a:bodyPr>
          <a:lstStyle/>
          <a:p>
            <a:r>
              <a:rPr lang="en-IN" sz="2400" b="1" dirty="0">
                <a:solidFill>
                  <a:schemeClr val="tx1"/>
                </a:solidFill>
                <a:latin typeface="Times New Roman"/>
                <a:cs typeface="Times New Roman"/>
              </a:rPr>
              <a:t>Software Requirements:</a:t>
            </a:r>
          </a:p>
          <a:p>
            <a:endParaRPr lang="en-IN" sz="2400" dirty="0"/>
          </a:p>
          <a:p>
            <a:r>
              <a:rPr lang="en-IN" sz="2000" dirty="0">
                <a:solidFill>
                  <a:schemeClr val="tx1">
                    <a:lumMod val="95000"/>
                    <a:lumOff val="5000"/>
                  </a:schemeClr>
                </a:solidFill>
              </a:rPr>
              <a:t>Operating System: Windows 11</a:t>
            </a:r>
          </a:p>
          <a:p>
            <a:r>
              <a:rPr lang="en-IN" sz="2000" dirty="0">
                <a:solidFill>
                  <a:schemeClr val="tx1">
                    <a:lumMod val="95000"/>
                    <a:lumOff val="5000"/>
                  </a:schemeClr>
                </a:solidFill>
              </a:rPr>
              <a:t>Frontend: React (with </a:t>
            </a:r>
            <a:r>
              <a:rPr lang="en-IN" sz="2000" dirty="0" smtClean="0">
                <a:solidFill>
                  <a:schemeClr val="tx1">
                    <a:lumMod val="95000"/>
                    <a:lumOff val="5000"/>
                  </a:schemeClr>
                </a:solidFill>
              </a:rPr>
              <a:t>JavaScript</a:t>
            </a:r>
            <a:r>
              <a:rPr lang="en-IN" sz="2000" dirty="0">
                <a:solidFill>
                  <a:schemeClr val="tx1">
                    <a:lumMod val="95000"/>
                    <a:lumOff val="5000"/>
                  </a:schemeClr>
                </a:solidFill>
              </a:rPr>
              <a:t>),</a:t>
            </a:r>
            <a:r>
              <a:rPr lang="en-IN" sz="2000" dirty="0"/>
              <a:t> </a:t>
            </a:r>
            <a:r>
              <a:rPr lang="en-IN" sz="2000" dirty="0" smtClean="0">
                <a:solidFill>
                  <a:schemeClr val="tx1">
                    <a:lumMod val="95000"/>
                    <a:lumOff val="5000"/>
                  </a:schemeClr>
                </a:solidFill>
              </a:rPr>
              <a:t>HTML</a:t>
            </a:r>
            <a:endParaRPr lang="en-IN" sz="2000" dirty="0">
              <a:solidFill>
                <a:schemeClr val="tx1">
                  <a:lumMod val="95000"/>
                  <a:lumOff val="5000"/>
                </a:schemeClr>
              </a:solidFill>
            </a:endParaRPr>
          </a:p>
          <a:p>
            <a:r>
              <a:rPr lang="en-IN" sz="2000" dirty="0">
                <a:solidFill>
                  <a:schemeClr val="tx1">
                    <a:lumMod val="95000"/>
                    <a:lumOff val="5000"/>
                  </a:schemeClr>
                </a:solidFill>
              </a:rPr>
              <a:t>Backend</a:t>
            </a:r>
            <a:r>
              <a:rPr lang="en-IN" sz="2000" dirty="0" smtClean="0">
                <a:solidFill>
                  <a:schemeClr val="tx1">
                    <a:lumMod val="95000"/>
                    <a:lumOff val="5000"/>
                  </a:schemeClr>
                </a:solidFill>
              </a:rPr>
              <a:t>: Node JavaScript </a:t>
            </a:r>
            <a:endParaRPr lang="en-IN" sz="2000" dirty="0">
              <a:solidFill>
                <a:schemeClr val="tx1">
                  <a:lumMod val="95000"/>
                  <a:lumOff val="5000"/>
                </a:schemeClr>
              </a:solidFill>
            </a:endParaRPr>
          </a:p>
          <a:p>
            <a:r>
              <a:rPr lang="en-IN" sz="2000" dirty="0">
                <a:solidFill>
                  <a:schemeClr val="tx1">
                    <a:lumMod val="95000"/>
                    <a:lumOff val="5000"/>
                  </a:schemeClr>
                </a:solidFill>
              </a:rPr>
              <a:t>Database: MySQL </a:t>
            </a:r>
            <a:endParaRPr lang="en-IN" sz="2000" dirty="0" smtClean="0">
              <a:solidFill>
                <a:schemeClr val="tx1">
                  <a:lumMod val="95000"/>
                  <a:lumOff val="5000"/>
                </a:schemeClr>
              </a:solidFill>
            </a:endParaRPr>
          </a:p>
          <a:p>
            <a:r>
              <a:rPr lang="en-IN" sz="2000" dirty="0" smtClean="0">
                <a:solidFill>
                  <a:schemeClr val="tx1">
                    <a:lumMod val="95000"/>
                    <a:lumOff val="5000"/>
                  </a:schemeClr>
                </a:solidFill>
              </a:rPr>
              <a:t>Development </a:t>
            </a:r>
            <a:r>
              <a:rPr lang="en-IN" sz="2000" dirty="0">
                <a:solidFill>
                  <a:schemeClr val="tx1">
                    <a:lumMod val="95000"/>
                    <a:lumOff val="5000"/>
                  </a:schemeClr>
                </a:solidFill>
              </a:rPr>
              <a:t>Tools: VS Code ,</a:t>
            </a:r>
            <a:r>
              <a:rPr lang="en-IN" sz="2000" dirty="0" smtClean="0">
                <a:solidFill>
                  <a:schemeClr val="tx1">
                    <a:lumMod val="95000"/>
                    <a:lumOff val="5000"/>
                  </a:schemeClr>
                </a:solidFill>
              </a:rPr>
              <a:t>Command </a:t>
            </a:r>
            <a:r>
              <a:rPr lang="en-IN" sz="2000" dirty="0">
                <a:solidFill>
                  <a:schemeClr val="tx1">
                    <a:lumMod val="95000"/>
                    <a:lumOff val="5000"/>
                  </a:schemeClr>
                </a:solidFill>
              </a:rPr>
              <a:t>prompt</a:t>
            </a:r>
          </a:p>
          <a:p>
            <a:r>
              <a:rPr lang="en-IN" sz="2000" dirty="0">
                <a:solidFill>
                  <a:schemeClr val="tx1">
                    <a:lumMod val="95000"/>
                    <a:lumOff val="5000"/>
                  </a:schemeClr>
                </a:solidFill>
              </a:rPr>
              <a:t>Other Tools: Browser (Chrome/Edge), ER Diagram tool </a:t>
            </a:r>
            <a:r>
              <a:rPr lang="en-IN" sz="2000" dirty="0" smtClean="0">
                <a:solidFill>
                  <a:schemeClr val="tx1">
                    <a:lumMod val="95000"/>
                    <a:lumOff val="5000"/>
                  </a:schemeClr>
                </a:solidFill>
              </a:rPr>
              <a:t>(</a:t>
            </a:r>
            <a:r>
              <a:rPr lang="en-IN" sz="2000" dirty="0" err="1" smtClean="0">
                <a:solidFill>
                  <a:schemeClr val="tx1">
                    <a:lumMod val="95000"/>
                    <a:lumOff val="5000"/>
                  </a:schemeClr>
                </a:solidFill>
              </a:rPr>
              <a:t>Lucidchart</a:t>
            </a:r>
            <a:r>
              <a:rPr lang="en-IN" sz="2000" dirty="0">
                <a:solidFill>
                  <a:schemeClr val="tx1">
                    <a:lumMod val="95000"/>
                    <a:lumOff val="5000"/>
                  </a:schemeClr>
                </a:solidFill>
              </a:rPr>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40F256-9FFF-512C-4177-49FE0B0F6133}"/>
              </a:ext>
            </a:extLst>
          </p:cNvPr>
          <p:cNvSpPr txBox="1"/>
          <p:nvPr/>
        </p:nvSpPr>
        <p:spPr>
          <a:xfrm>
            <a:off x="882869" y="935421"/>
            <a:ext cx="10012608" cy="4077442"/>
          </a:xfrm>
          <a:prstGeom prst="rect">
            <a:avLst/>
          </a:prstGeom>
        </p:spPr>
        <p:txBody>
          <a:bodyPr vert="horz" lIns="91440" tIns="45720" rIns="91440" bIns="45720" rtlCol="0" anchor="t">
            <a:normAutofit lnSpcReduction="10000"/>
          </a:bodyPr>
          <a:lstStyle/>
          <a:p>
            <a:pPr marL="285750" indent="-228600" defTabSz="914400">
              <a:lnSpc>
                <a:spcPct val="90000"/>
              </a:lnSpc>
              <a:spcBef>
                <a:spcPts val="1000"/>
              </a:spcBef>
              <a:buClr>
                <a:schemeClr val="accent2"/>
              </a:buClr>
              <a:buFont typeface="Arial" panose="020B0604020202020204" pitchFamily="34" charset="0"/>
              <a:buChar char="•"/>
            </a:pPr>
            <a:r>
              <a:rPr lang="en-US" sz="2400" b="1" dirty="0"/>
              <a:t>Hardware Requirements</a:t>
            </a:r>
          </a:p>
          <a:p>
            <a:pPr marL="285750" indent="-228600" defTabSz="914400">
              <a:lnSpc>
                <a:spcPct val="90000"/>
              </a:lnSpc>
              <a:spcBef>
                <a:spcPts val="1000"/>
              </a:spcBef>
              <a:buClr>
                <a:schemeClr val="accent2"/>
              </a:buClr>
              <a:buFont typeface="Arial" panose="020B0604020202020204" pitchFamily="34" charset="0"/>
              <a:buChar char="•"/>
            </a:pPr>
            <a:endParaRPr lang="en-US" sz="1000" b="1" dirty="0">
              <a:solidFill>
                <a:srgbClr val="404040"/>
              </a:solidFill>
            </a:endParaRPr>
          </a:p>
          <a:p>
            <a:pPr marL="285750" indent="-228600" defTabSz="914400">
              <a:lnSpc>
                <a:spcPct val="90000"/>
              </a:lnSpc>
              <a:spcBef>
                <a:spcPts val="1000"/>
              </a:spcBef>
              <a:buClr>
                <a:schemeClr val="accent2"/>
              </a:buClr>
              <a:buFont typeface="Arial" panose="020B0604020202020204" pitchFamily="34" charset="0"/>
              <a:buChar char="•"/>
            </a:pPr>
            <a:r>
              <a:rPr lang="en-US" sz="2000" dirty="0">
                <a:solidFill>
                  <a:srgbClr val="404040"/>
                </a:solidFill>
              </a:rPr>
              <a:t>Processor: Intel i3 or above</a:t>
            </a:r>
          </a:p>
          <a:p>
            <a:pPr marL="285750" indent="-228600" defTabSz="914400">
              <a:lnSpc>
                <a:spcPct val="90000"/>
              </a:lnSpc>
              <a:spcBef>
                <a:spcPts val="1000"/>
              </a:spcBef>
              <a:buClr>
                <a:schemeClr val="accent2"/>
              </a:buClr>
              <a:buFont typeface="Arial" panose="020B0604020202020204" pitchFamily="34" charset="0"/>
              <a:buChar char="•"/>
            </a:pPr>
            <a:endParaRPr lang="en-US" sz="2000" dirty="0">
              <a:solidFill>
                <a:srgbClr val="404040"/>
              </a:solidFill>
            </a:endParaRPr>
          </a:p>
          <a:p>
            <a:pPr marL="285750" indent="-228600" defTabSz="914400">
              <a:lnSpc>
                <a:spcPct val="90000"/>
              </a:lnSpc>
              <a:spcBef>
                <a:spcPts val="1000"/>
              </a:spcBef>
              <a:buClr>
                <a:schemeClr val="accent2"/>
              </a:buClr>
              <a:buFont typeface="Arial" panose="020B0604020202020204" pitchFamily="34" charset="0"/>
              <a:buChar char="•"/>
            </a:pPr>
            <a:r>
              <a:rPr lang="en-US" sz="2000" dirty="0">
                <a:solidFill>
                  <a:srgbClr val="404040"/>
                </a:solidFill>
              </a:rPr>
              <a:t>RAM: Minimum 4 GB (8 GB recommended)</a:t>
            </a:r>
          </a:p>
          <a:p>
            <a:pPr marL="285750" indent="-228600" defTabSz="914400">
              <a:lnSpc>
                <a:spcPct val="90000"/>
              </a:lnSpc>
              <a:spcBef>
                <a:spcPts val="1000"/>
              </a:spcBef>
              <a:buClr>
                <a:schemeClr val="accent2"/>
              </a:buClr>
              <a:buFont typeface="Arial" panose="020B0604020202020204" pitchFamily="34" charset="0"/>
              <a:buChar char="•"/>
            </a:pPr>
            <a:endParaRPr lang="en-US" sz="2000" dirty="0">
              <a:solidFill>
                <a:srgbClr val="404040"/>
              </a:solidFill>
            </a:endParaRPr>
          </a:p>
          <a:p>
            <a:pPr marL="285750" indent="-228600" defTabSz="914400">
              <a:lnSpc>
                <a:spcPct val="90000"/>
              </a:lnSpc>
              <a:spcBef>
                <a:spcPts val="1000"/>
              </a:spcBef>
              <a:buClr>
                <a:schemeClr val="accent2"/>
              </a:buClr>
              <a:buFont typeface="Arial" panose="020B0604020202020204" pitchFamily="34" charset="0"/>
              <a:buChar char="•"/>
            </a:pPr>
            <a:r>
              <a:rPr lang="en-US" sz="2000" dirty="0">
                <a:solidFill>
                  <a:srgbClr val="404040"/>
                </a:solidFill>
              </a:rPr>
              <a:t>Storage: Minimum 100 GB Hard Disk</a:t>
            </a:r>
          </a:p>
          <a:p>
            <a:pPr marL="285750" indent="-228600" defTabSz="914400">
              <a:lnSpc>
                <a:spcPct val="90000"/>
              </a:lnSpc>
              <a:spcBef>
                <a:spcPts val="1000"/>
              </a:spcBef>
              <a:buClr>
                <a:schemeClr val="accent2"/>
              </a:buClr>
              <a:buFont typeface="Arial" panose="020B0604020202020204" pitchFamily="34" charset="0"/>
              <a:buChar char="•"/>
            </a:pPr>
            <a:endParaRPr lang="en-US" sz="2000" dirty="0">
              <a:solidFill>
                <a:srgbClr val="404040"/>
              </a:solidFill>
            </a:endParaRPr>
          </a:p>
          <a:p>
            <a:pPr marL="285750" indent="-228600" defTabSz="914400">
              <a:lnSpc>
                <a:spcPct val="90000"/>
              </a:lnSpc>
              <a:spcBef>
                <a:spcPts val="1000"/>
              </a:spcBef>
              <a:buClr>
                <a:schemeClr val="accent2"/>
              </a:buClr>
              <a:buFont typeface="Arial" panose="020B0604020202020204" pitchFamily="34" charset="0"/>
              <a:buChar char="•"/>
            </a:pPr>
            <a:r>
              <a:rPr lang="en-US" sz="2000" dirty="0">
                <a:solidFill>
                  <a:srgbClr val="404040"/>
                </a:solidFill>
              </a:rPr>
              <a:t>Display: 1024x768 resolution or higher</a:t>
            </a:r>
          </a:p>
          <a:p>
            <a:pPr marL="285750" indent="-228600" defTabSz="914400">
              <a:lnSpc>
                <a:spcPct val="90000"/>
              </a:lnSpc>
              <a:spcBef>
                <a:spcPts val="1000"/>
              </a:spcBef>
              <a:buClr>
                <a:schemeClr val="accent2"/>
              </a:buClr>
              <a:buFont typeface="Arial" panose="020B0604020202020204" pitchFamily="34" charset="0"/>
              <a:buChar char="•"/>
            </a:pPr>
            <a:endParaRPr lang="en-US" sz="2000" dirty="0">
              <a:solidFill>
                <a:srgbClr val="404040"/>
              </a:solidFill>
            </a:endParaRPr>
          </a:p>
          <a:p>
            <a:pPr marL="285750" indent="-228600" defTabSz="914400">
              <a:lnSpc>
                <a:spcPct val="90000"/>
              </a:lnSpc>
              <a:spcBef>
                <a:spcPts val="1000"/>
              </a:spcBef>
              <a:buClr>
                <a:schemeClr val="accent2"/>
              </a:buClr>
              <a:buFont typeface="Arial" panose="020B0604020202020204" pitchFamily="34" charset="0"/>
              <a:buChar char="•"/>
            </a:pPr>
            <a:r>
              <a:rPr lang="en-US" sz="2000" dirty="0">
                <a:solidFill>
                  <a:srgbClr val="404040"/>
                </a:solidFill>
              </a:rPr>
              <a:t>Network: Internet connection for online record access and storage</a:t>
            </a:r>
          </a:p>
        </p:txBody>
      </p:sp>
    </p:spTree>
    <p:extLst>
      <p:ext uri="{BB962C8B-B14F-4D97-AF65-F5344CB8AC3E}">
        <p14:creationId xmlns:p14="http://schemas.microsoft.com/office/powerpoint/2010/main" val="4166655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A1649-7F90-7EF5-705F-16DB62478549}"/>
              </a:ext>
            </a:extLst>
          </p:cNvPr>
          <p:cNvSpPr>
            <a:spLocks noGrp="1"/>
          </p:cNvSpPr>
          <p:nvPr>
            <p:ph type="title"/>
          </p:nvPr>
        </p:nvSpPr>
        <p:spPr>
          <a:xfrm>
            <a:off x="346841" y="117013"/>
            <a:ext cx="8471338" cy="1028615"/>
          </a:xfrm>
        </p:spPr>
        <p:txBody>
          <a:bodyPr>
            <a:normAutofit fontScale="90000"/>
          </a:bodyPr>
          <a:lstStyle/>
          <a:p>
            <a:r>
              <a:rPr lang="en-US" sz="4000" dirty="0"/>
              <a:t>   Functional and Non-functional 			                requirements</a:t>
            </a:r>
            <a:endParaRPr lang="en-IN" sz="4000" dirty="0"/>
          </a:p>
        </p:txBody>
      </p:sp>
      <p:sp>
        <p:nvSpPr>
          <p:cNvPr id="3" name="Content Placeholder 2">
            <a:extLst>
              <a:ext uri="{FF2B5EF4-FFF2-40B4-BE49-F238E27FC236}">
                <a16:creationId xmlns:a16="http://schemas.microsoft.com/office/drawing/2014/main" id="{8DE44381-695C-508F-23F0-88D0137DC895}"/>
              </a:ext>
            </a:extLst>
          </p:cNvPr>
          <p:cNvSpPr>
            <a:spLocks noGrp="1"/>
          </p:cNvSpPr>
          <p:nvPr>
            <p:ph idx="1"/>
          </p:nvPr>
        </p:nvSpPr>
        <p:spPr>
          <a:xfrm>
            <a:off x="666824" y="1488613"/>
            <a:ext cx="8596668" cy="3880773"/>
          </a:xfrm>
        </p:spPr>
        <p:txBody>
          <a:bodyPr vert="horz" lIns="91440" tIns="45720" rIns="91440" bIns="45720" rtlCol="0" anchor="t">
            <a:normAutofit fontScale="25000" lnSpcReduction="20000"/>
          </a:bodyPr>
          <a:lstStyle/>
          <a:p>
            <a:pPr marL="0" indent="0">
              <a:buNone/>
            </a:pPr>
            <a:r>
              <a:rPr lang="en-US" sz="9600" b="1" dirty="0">
                <a:solidFill>
                  <a:schemeClr val="tx1">
                    <a:lumMod val="95000"/>
                    <a:lumOff val="5000"/>
                  </a:schemeClr>
                </a:solidFill>
              </a:rPr>
              <a:t>Functional Requirements</a:t>
            </a:r>
          </a:p>
          <a:p>
            <a:pPr marL="0" indent="0">
              <a:buNone/>
            </a:pPr>
            <a:endParaRPr lang="en-US" sz="4500" dirty="0"/>
          </a:p>
          <a:p>
            <a:pPr marL="0" indent="0">
              <a:buNone/>
            </a:pPr>
            <a:r>
              <a:rPr lang="en-US" sz="8000" dirty="0"/>
              <a:t>1.User Registration and Authentication:</a:t>
            </a:r>
          </a:p>
          <a:p>
            <a:pPr>
              <a:buFont typeface="Arial" panose="020B0604020202020204" pitchFamily="34" charset="0"/>
              <a:buChar char="•"/>
            </a:pPr>
            <a:r>
              <a:rPr lang="en-US" sz="8000" dirty="0"/>
              <a:t>Migrant workers, doctors, and administrators should be able to register and log in securely.</a:t>
            </a:r>
          </a:p>
          <a:p>
            <a:pPr>
              <a:buFont typeface="Arial" panose="020B0604020202020204" pitchFamily="34" charset="0"/>
              <a:buChar char="•"/>
            </a:pPr>
            <a:endParaRPr lang="en-US" sz="8000" dirty="0"/>
          </a:p>
          <a:p>
            <a:pPr marL="0" indent="0">
              <a:buNone/>
            </a:pPr>
            <a:r>
              <a:rPr lang="en-US" sz="8000" dirty="0"/>
              <a:t>2.Health Record Management:</a:t>
            </a:r>
            <a:endParaRPr lang="en-US" dirty="0"/>
          </a:p>
          <a:p>
            <a:pPr>
              <a:buFont typeface="Arial" panose="020B0604020202020204" pitchFamily="34" charset="0"/>
              <a:buChar char="•"/>
            </a:pPr>
            <a:r>
              <a:rPr lang="en-US" sz="8000" dirty="0"/>
              <a:t>Allows healthcare staff to create, update, and retrieve patient (migrant worker) medical records.</a:t>
            </a:r>
          </a:p>
          <a:p>
            <a:pPr>
              <a:buFont typeface="Arial" panose="020B0604020202020204" pitchFamily="34" charset="0"/>
              <a:buChar char="•"/>
            </a:pPr>
            <a:endParaRPr lang="en-US" sz="8000" dirty="0"/>
          </a:p>
          <a:p>
            <a:pPr marL="0" indent="0">
              <a:buNone/>
            </a:pPr>
            <a:r>
              <a:rPr lang="en-US" sz="8000" dirty="0"/>
              <a:t>3. Doctor Access and Consultation:</a:t>
            </a:r>
            <a:endParaRPr lang="en-US" dirty="0"/>
          </a:p>
          <a:p>
            <a:pPr>
              <a:buFont typeface="Arial" panose="020B0604020202020204" pitchFamily="34" charset="0"/>
              <a:buChar char="•"/>
            </a:pPr>
            <a:r>
              <a:rPr lang="en-US" sz="8000" dirty="0"/>
              <a:t>Doctors can view a worker’s medical history and update diagnoses, prescriptions, or test results.</a:t>
            </a:r>
          </a:p>
          <a:p>
            <a:pPr>
              <a:buFont typeface="Arial" panose="020B0604020202020204" pitchFamily="34" charset="0"/>
              <a:buChar char="•"/>
            </a:pPr>
            <a:endParaRPr lang="en-US" sz="8000" dirty="0"/>
          </a:p>
        </p:txBody>
      </p:sp>
    </p:spTree>
    <p:extLst>
      <p:ext uri="{BB962C8B-B14F-4D97-AF65-F5344CB8AC3E}">
        <p14:creationId xmlns:p14="http://schemas.microsoft.com/office/powerpoint/2010/main" val="16804683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6ED87-01AA-7D77-ABC6-825E7FAE2CFA}"/>
              </a:ext>
            </a:extLst>
          </p:cNvPr>
          <p:cNvSpPr>
            <a:spLocks noGrp="1"/>
          </p:cNvSpPr>
          <p:nvPr>
            <p:ph type="title"/>
          </p:nvPr>
        </p:nvSpPr>
        <p:spPr/>
        <p:txBody>
          <a:bodyPr>
            <a:normAutofit/>
          </a:bodyPr>
          <a:lstStyle/>
          <a:p>
            <a:r>
              <a:rPr lang="en-US" sz="2400" dirty="0">
                <a:solidFill>
                  <a:schemeClr val="tx1">
                    <a:lumMod val="95000"/>
                    <a:lumOff val="5000"/>
                  </a:schemeClr>
                </a:solidFill>
              </a:rPr>
              <a:t>Non-functional requirements</a:t>
            </a:r>
            <a:endParaRPr lang="en-IN" sz="2400"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3EF15692-1E40-8E48-FA16-EDED4B781DE4}"/>
              </a:ext>
            </a:extLst>
          </p:cNvPr>
          <p:cNvSpPr>
            <a:spLocks noGrp="1"/>
          </p:cNvSpPr>
          <p:nvPr>
            <p:ph idx="1"/>
          </p:nvPr>
        </p:nvSpPr>
        <p:spPr>
          <a:xfrm>
            <a:off x="677334" y="1379330"/>
            <a:ext cx="10058400" cy="3931920"/>
          </a:xfrm>
        </p:spPr>
        <p:txBody>
          <a:bodyPr vert="horz" lIns="91440" tIns="45720" rIns="91440" bIns="45720" rtlCol="0" anchor="t">
            <a:normAutofit fontScale="25000" lnSpcReduction="20000"/>
          </a:bodyPr>
          <a:lstStyle/>
          <a:p>
            <a:pPr marL="0" indent="0">
              <a:buNone/>
            </a:pPr>
            <a:endParaRPr lang="en-US" dirty="0"/>
          </a:p>
          <a:p>
            <a:pPr marL="0" indent="0">
              <a:buNone/>
            </a:pPr>
            <a:r>
              <a:rPr lang="en-US" sz="8000" b="1" dirty="0">
                <a:latin typeface="Times New Roman"/>
                <a:cs typeface="Times New Roman"/>
              </a:rPr>
              <a:t>1. Security:</a:t>
            </a:r>
          </a:p>
          <a:p>
            <a:pPr>
              <a:buFont typeface="Arial" panose="020B0604020202020204" pitchFamily="34" charset="0"/>
              <a:buChar char="•"/>
            </a:pPr>
            <a:r>
              <a:rPr lang="en-US" sz="8000" dirty="0">
                <a:latin typeface="Times New Roman"/>
                <a:cs typeface="Times New Roman"/>
              </a:rPr>
              <a:t>All sensitive health data must be encrypted and accessible only to authorized users.</a:t>
            </a:r>
          </a:p>
          <a:p>
            <a:pPr marL="0" indent="0">
              <a:buNone/>
            </a:pPr>
            <a:r>
              <a:rPr lang="en-US" sz="8000" b="1" dirty="0">
                <a:latin typeface="Times New Roman"/>
                <a:cs typeface="Times New Roman"/>
              </a:rPr>
              <a:t>2. Usability:</a:t>
            </a:r>
          </a:p>
          <a:p>
            <a:pPr>
              <a:buFont typeface="Arial" panose="020B0604020202020204" pitchFamily="34" charset="0"/>
              <a:buChar char="•"/>
            </a:pPr>
            <a:r>
              <a:rPr lang="en-US" sz="8000" dirty="0">
                <a:latin typeface="Times New Roman"/>
                <a:cs typeface="Times New Roman"/>
              </a:rPr>
              <a:t>Interface should be user-friendly and accessible even for low-literate users.</a:t>
            </a:r>
          </a:p>
          <a:p>
            <a:pPr marL="0" indent="0">
              <a:buNone/>
            </a:pPr>
            <a:r>
              <a:rPr lang="en-US" sz="8000" b="1" dirty="0">
                <a:latin typeface="Times New Roman"/>
                <a:cs typeface="Times New Roman"/>
              </a:rPr>
              <a:t>3. Scalability:</a:t>
            </a:r>
          </a:p>
          <a:p>
            <a:pPr>
              <a:buFont typeface="Arial" panose="020B0604020202020204" pitchFamily="34" charset="0"/>
              <a:buChar char="•"/>
            </a:pPr>
            <a:r>
              <a:rPr lang="en-US" sz="8000" dirty="0">
                <a:latin typeface="Times New Roman"/>
                <a:cs typeface="Times New Roman"/>
              </a:rPr>
              <a:t>Should handle large numbers of migrant workers across different regions.</a:t>
            </a:r>
          </a:p>
          <a:p>
            <a:pPr marL="0" indent="0">
              <a:buNone/>
            </a:pPr>
            <a:r>
              <a:rPr lang="en-US" sz="8000" b="1" dirty="0">
                <a:latin typeface="Times New Roman"/>
                <a:cs typeface="Times New Roman"/>
              </a:rPr>
              <a:t>4. Performance:</a:t>
            </a:r>
          </a:p>
          <a:p>
            <a:pPr>
              <a:buFont typeface="Arial" panose="020B0604020202020204" pitchFamily="34" charset="0"/>
              <a:buChar char="•"/>
            </a:pPr>
            <a:r>
              <a:rPr lang="en-US" sz="8000" dirty="0">
                <a:latin typeface="Times New Roman"/>
                <a:cs typeface="Times New Roman"/>
              </a:rPr>
              <a:t>System must retrieve health records within 2–3 seconds.</a:t>
            </a:r>
          </a:p>
          <a:p>
            <a:pPr marL="0" indent="0">
              <a:buNone/>
            </a:pPr>
            <a:endParaRPr lang="en-IN" sz="7200" dirty="0"/>
          </a:p>
        </p:txBody>
      </p:sp>
    </p:spTree>
    <p:extLst>
      <p:ext uri="{BB962C8B-B14F-4D97-AF65-F5344CB8AC3E}">
        <p14:creationId xmlns:p14="http://schemas.microsoft.com/office/powerpoint/2010/main" val="25241751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094F7-10FC-1492-C637-089C90420CE8}"/>
              </a:ext>
            </a:extLst>
          </p:cNvPr>
          <p:cNvSpPr>
            <a:spLocks noGrp="1"/>
          </p:cNvSpPr>
          <p:nvPr>
            <p:ph type="title"/>
          </p:nvPr>
        </p:nvSpPr>
        <p:spPr/>
        <p:txBody>
          <a:bodyPr>
            <a:normAutofit/>
          </a:bodyPr>
          <a:lstStyle/>
          <a:p>
            <a:r>
              <a:rPr lang="en-US" sz="4400" dirty="0"/>
              <a:t>Description of Modules</a:t>
            </a:r>
            <a:endParaRPr lang="en-IN" sz="4400" dirty="0"/>
          </a:p>
        </p:txBody>
      </p:sp>
      <p:sp>
        <p:nvSpPr>
          <p:cNvPr id="3" name="Content Placeholder 2">
            <a:extLst>
              <a:ext uri="{FF2B5EF4-FFF2-40B4-BE49-F238E27FC236}">
                <a16:creationId xmlns:a16="http://schemas.microsoft.com/office/drawing/2014/main" id="{382E2B7F-AB0A-7CF4-B7A2-66B49150464A}"/>
              </a:ext>
            </a:extLst>
          </p:cNvPr>
          <p:cNvSpPr>
            <a:spLocks noGrp="1"/>
          </p:cNvSpPr>
          <p:nvPr>
            <p:ph idx="1"/>
          </p:nvPr>
        </p:nvSpPr>
        <p:spPr>
          <a:xfrm>
            <a:off x="400878" y="1740673"/>
            <a:ext cx="10058400" cy="3931920"/>
          </a:xfrm>
        </p:spPr>
        <p:txBody>
          <a:bodyPr>
            <a:noAutofit/>
          </a:bodyPr>
          <a:lstStyle/>
          <a:p>
            <a:pPr marL="0" indent="0">
              <a:buNone/>
            </a:pPr>
            <a:endParaRPr lang="en-US" sz="2000" dirty="0"/>
          </a:p>
          <a:p>
            <a:pPr marL="0" indent="0">
              <a:buNone/>
            </a:pPr>
            <a:r>
              <a:rPr lang="en-US" sz="2000" b="1" dirty="0"/>
              <a:t>1. User (Migrant Worker) Module:</a:t>
            </a:r>
          </a:p>
          <a:p>
            <a:pPr>
              <a:buFont typeface="Arial" panose="020B0604020202020204" pitchFamily="34" charset="0"/>
              <a:buChar char="•"/>
            </a:pPr>
            <a:r>
              <a:rPr lang="en-US" sz="2000" dirty="0"/>
              <a:t>Enables workers to register, view their personal details, and access their health history.</a:t>
            </a:r>
          </a:p>
          <a:p>
            <a:pPr marL="0" indent="0">
              <a:buNone/>
            </a:pPr>
            <a:r>
              <a:rPr lang="en-US" sz="2000" b="1" dirty="0"/>
              <a:t>2. Doctor Module:</a:t>
            </a:r>
          </a:p>
          <a:p>
            <a:pPr>
              <a:buFont typeface="Arial" panose="020B0604020202020204" pitchFamily="34" charset="0"/>
              <a:buChar char="•"/>
            </a:pPr>
            <a:r>
              <a:rPr lang="en-US" sz="2000" dirty="0"/>
              <a:t>Doctors can view medical history, add prescriptions, lab results, and recommendations.</a:t>
            </a:r>
          </a:p>
          <a:p>
            <a:pPr marL="0" indent="0">
              <a:buNone/>
            </a:pPr>
            <a:r>
              <a:rPr lang="en-US" sz="2000" b="1" dirty="0"/>
              <a:t>3. Health Record Module:</a:t>
            </a:r>
          </a:p>
          <a:p>
            <a:pPr>
              <a:buFont typeface="Arial" panose="020B0604020202020204" pitchFamily="34" charset="0"/>
              <a:buChar char="•"/>
            </a:pPr>
            <a:r>
              <a:rPr lang="en-US" sz="2000" dirty="0"/>
              <a:t>Stores all patient medical data — including allergies, previous treatments, vaccinations, and medical reports.</a:t>
            </a:r>
          </a:p>
          <a:p>
            <a:pPr marL="0" indent="0">
              <a:buNone/>
            </a:pPr>
            <a:endParaRPr lang="en-IN" dirty="0"/>
          </a:p>
        </p:txBody>
      </p:sp>
    </p:spTree>
    <p:extLst>
      <p:ext uri="{BB962C8B-B14F-4D97-AF65-F5344CB8AC3E}">
        <p14:creationId xmlns:p14="http://schemas.microsoft.com/office/powerpoint/2010/main" val="12516267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057A02-199D-9424-6BEE-9C1C761D74C8}"/>
              </a:ext>
            </a:extLst>
          </p:cNvPr>
          <p:cNvSpPr txBox="1"/>
          <p:nvPr/>
        </p:nvSpPr>
        <p:spPr>
          <a:xfrm>
            <a:off x="1679713" y="342108"/>
            <a:ext cx="6102626" cy="769441"/>
          </a:xfrm>
          <a:prstGeom prst="rect">
            <a:avLst/>
          </a:prstGeom>
          <a:noFill/>
        </p:spPr>
        <p:txBody>
          <a:bodyPr wrap="square">
            <a:spAutoFit/>
          </a:bodyPr>
          <a:lstStyle/>
          <a:p>
            <a:r>
              <a:rPr lang="en-IN" sz="4400" b="1" dirty="0">
                <a:solidFill>
                  <a:schemeClr val="accent1"/>
                </a:solidFill>
                <a:latin typeface="Times New Roman" panose="02020603050405020304" pitchFamily="18" charset="0"/>
                <a:cs typeface="Times New Roman" panose="02020603050405020304" pitchFamily="18" charset="0"/>
              </a:rPr>
              <a:t>DESIGN:</a:t>
            </a:r>
            <a:endParaRPr lang="en-US" sz="4400" dirty="0">
              <a:solidFill>
                <a:schemeClr val="accent1"/>
              </a:solidFill>
            </a:endParaRPr>
          </a:p>
        </p:txBody>
      </p:sp>
      <p:pic>
        <p:nvPicPr>
          <p:cNvPr id="5" name="Picture 4">
            <a:extLst>
              <a:ext uri="{FF2B5EF4-FFF2-40B4-BE49-F238E27FC236}">
                <a16:creationId xmlns:a16="http://schemas.microsoft.com/office/drawing/2014/main" id="{C72F83EB-FA5A-92F9-8BFD-5EFBE5CF2289}"/>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41328546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99D1A3-F539-B170-1401-46253585E862}"/>
              </a:ext>
            </a:extLst>
          </p:cNvPr>
          <p:cNvPicPr>
            <a:picLocks noChangeAspect="1"/>
          </p:cNvPicPr>
          <p:nvPr/>
        </p:nvPicPr>
        <p:blipFill>
          <a:blip r:embed="rId2"/>
          <a:stretch>
            <a:fillRect/>
          </a:stretch>
        </p:blipFill>
        <p:spPr>
          <a:xfrm>
            <a:off x="952500" y="0"/>
            <a:ext cx="10287000" cy="6858000"/>
          </a:xfrm>
          <a:prstGeom prst="rect">
            <a:avLst/>
          </a:prstGeom>
        </p:spPr>
      </p:pic>
      <p:sp>
        <p:nvSpPr>
          <p:cNvPr id="5" name="TextBox 4">
            <a:extLst>
              <a:ext uri="{FF2B5EF4-FFF2-40B4-BE49-F238E27FC236}">
                <a16:creationId xmlns:a16="http://schemas.microsoft.com/office/drawing/2014/main" id="{3F14B6D7-11AA-4967-ED21-F7AF2A1BCAAA}"/>
              </a:ext>
            </a:extLst>
          </p:cNvPr>
          <p:cNvSpPr txBox="1"/>
          <p:nvPr/>
        </p:nvSpPr>
        <p:spPr>
          <a:xfrm>
            <a:off x="592394" y="147483"/>
            <a:ext cx="6100916" cy="369332"/>
          </a:xfrm>
          <a:prstGeom prst="rect">
            <a:avLst/>
          </a:prstGeom>
          <a:noFill/>
        </p:spPr>
        <p:txBody>
          <a:bodyPr wrap="square">
            <a:spAutoFit/>
          </a:bodyPr>
          <a:lstStyle/>
          <a:p>
            <a:r>
              <a:rPr lang="en-IN" dirty="0">
                <a:effectLst/>
              </a:rPr>
              <a:t>Use case diagram</a:t>
            </a:r>
            <a:endParaRPr lang="en-IN" dirty="0"/>
          </a:p>
        </p:txBody>
      </p:sp>
    </p:spTree>
    <p:extLst>
      <p:ext uri="{BB962C8B-B14F-4D97-AF65-F5344CB8AC3E}">
        <p14:creationId xmlns:p14="http://schemas.microsoft.com/office/powerpoint/2010/main" val="25916510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85046-052C-2435-5B64-79F7D6270351}"/>
              </a:ext>
            </a:extLst>
          </p:cNvPr>
          <p:cNvSpPr>
            <a:spLocks noGrp="1"/>
          </p:cNvSpPr>
          <p:nvPr>
            <p:ph type="title"/>
          </p:nvPr>
        </p:nvSpPr>
        <p:spPr/>
        <p:txBody>
          <a:bodyPr/>
          <a:lstStyle/>
          <a:p>
            <a:r>
              <a:rPr lang="en-US" dirty="0"/>
              <a:t>Implementation</a:t>
            </a:r>
            <a:endParaRPr lang="en-IN" dirty="0"/>
          </a:p>
        </p:txBody>
      </p:sp>
      <p:sp>
        <p:nvSpPr>
          <p:cNvPr id="3" name="Rectangle 1">
            <a:extLst>
              <a:ext uri="{FF2B5EF4-FFF2-40B4-BE49-F238E27FC236}">
                <a16:creationId xmlns:a16="http://schemas.microsoft.com/office/drawing/2014/main" id="{9D4AAD6E-EB14-EAA1-B1F5-C074DDA7E877}"/>
              </a:ext>
            </a:extLst>
          </p:cNvPr>
          <p:cNvSpPr>
            <a:spLocks noChangeArrowheads="1"/>
          </p:cNvSpPr>
          <p:nvPr/>
        </p:nvSpPr>
        <p:spPr bwMode="auto">
          <a:xfrm>
            <a:off x="447914" y="1859339"/>
            <a:ext cx="905550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follows a clean folder structure where all main logic, components, and styles are kept </a:t>
            </a:r>
            <a:r>
              <a:rPr lang="en-US" altLang="en-US" dirty="0">
                <a:latin typeface="Times New Roman" panose="02020603050405020304" pitchFamily="18" charset="0"/>
                <a:cs typeface="Times New Roman" panose="02020603050405020304" pitchFamily="18" charset="0"/>
              </a:rPr>
              <a:t>inside the </a:t>
            </a:r>
            <a:r>
              <a:rPr lang="en-US" altLang="en-US" dirty="0" err="1">
                <a:latin typeface="Times New Roman" panose="02020603050405020304" pitchFamily="18" charset="0"/>
                <a:cs typeface="Times New Roman" panose="02020603050405020304" pitchFamily="18" charset="0"/>
              </a:rPr>
              <a:t>src</a:t>
            </a:r>
            <a:r>
              <a:rPr lang="en-US" altLang="en-US" dirty="0">
                <a:latin typeface="Times New Roman" panose="02020603050405020304" pitchFamily="18" charset="0"/>
                <a:cs typeface="Times New Roman" panose="02020603050405020304" pitchFamily="18" charset="0"/>
              </a:rPr>
              <a:t> folder.</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implemented the project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 with TypeScript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building the entire user interface using </a:t>
            </a:r>
            <a:r>
              <a:rPr lang="en-US" altLang="en-US" sz="1000" dirty="0">
                <a:latin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main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file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used as the entry point where the React app gets loaded.</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used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Vite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fast development and optimized builds through its configuration file.</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CSS</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integrated to style the website using utility classes for a modern, responsive UI.</a:t>
            </a: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Several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JSON configuration files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package.json, tsconfig.json, etc.) are used to manage dependencies, scripts, and TypeScript settings</a:t>
            </a:r>
            <a:r>
              <a:rPr kumimoji="0" lang="en-US" altLang="en-US" sz="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Netlify deployment configuration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included for easy hosting and continuous deployment.</a:t>
            </a:r>
          </a:p>
        </p:txBody>
      </p:sp>
    </p:spTree>
    <p:extLst>
      <p:ext uri="{BB962C8B-B14F-4D97-AF65-F5344CB8AC3E}">
        <p14:creationId xmlns:p14="http://schemas.microsoft.com/office/powerpoint/2010/main" val="25907216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590AC-9061-7366-1D10-D69F26F9D8FB}"/>
              </a:ext>
            </a:extLst>
          </p:cNvPr>
          <p:cNvSpPr>
            <a:spLocks noGrp="1"/>
          </p:cNvSpPr>
          <p:nvPr>
            <p:ph type="title"/>
          </p:nvPr>
        </p:nvSpPr>
        <p:spPr/>
        <p:txBody>
          <a:bodyPr/>
          <a:lstStyle/>
          <a:p>
            <a:r>
              <a:rPr lang="en-US" dirty="0"/>
              <a:t>Testing</a:t>
            </a:r>
            <a:endParaRPr lang="en-IN" dirty="0"/>
          </a:p>
        </p:txBody>
      </p:sp>
      <p:sp>
        <p:nvSpPr>
          <p:cNvPr id="5" name="Rectangle 2">
            <a:extLst>
              <a:ext uri="{FF2B5EF4-FFF2-40B4-BE49-F238E27FC236}">
                <a16:creationId xmlns:a16="http://schemas.microsoft.com/office/drawing/2014/main" id="{45C6FC27-D8BF-D059-B152-8587743DE79D}"/>
              </a:ext>
            </a:extLst>
          </p:cNvPr>
          <p:cNvSpPr>
            <a:spLocks noGrp="1" noChangeArrowheads="1"/>
          </p:cNvSpPr>
          <p:nvPr>
            <p:ph idx="1"/>
          </p:nvPr>
        </p:nvSpPr>
        <p:spPr bwMode="auto">
          <a:xfrm>
            <a:off x="677334" y="1357203"/>
            <a:ext cx="919818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Functional Testing:</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All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core</a:t>
            </a:r>
            <a:r>
              <a:rPr kumimoji="0" lang="en-US" altLang="en-US" sz="1800" b="0" i="0" u="none" strike="noStrike" cap="none" normalizeH="0" baseline="0" dirty="0">
                <a:ln>
                  <a:noFill/>
                </a:ln>
                <a:solidFill>
                  <a:schemeClr val="tx1"/>
                </a:solidFill>
                <a:effectLst/>
                <a:latin typeface="Arial" panose="020B0604020202020204" pitchFamily="34" charset="0"/>
              </a:rPr>
              <a:t> features (forms, buttons, navigation, user actions) were tested to ensure they work correctly in the browser.</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Component Testing:</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Individual React components were checked to ensure proper rendering and expected behavior.</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Responsive Testing:</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UI was tested across multiple screen sizes (mobile, tablet, desktop) to confirm Tailwind-based responsiveness.</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Browser Compatibility Testing:</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application was tested on major browsers like Chrome, Edge, and Firefox to ensure consistent performance and layout.</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Build Testing:</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 production build was generated using Vite (</a:t>
            </a:r>
            <a:r>
              <a:rPr kumimoji="0" lang="en-US" altLang="en-US" b="0" i="0" u="none" strike="noStrike" cap="none" normalizeH="0" baseline="0" dirty="0" err="1">
                <a:ln>
                  <a:noFill/>
                </a:ln>
                <a:solidFill>
                  <a:schemeClr val="tx1"/>
                </a:solidFill>
                <a:effectLst/>
                <a:latin typeface="Arial Unicode MS"/>
              </a:rPr>
              <a:t>npm</a:t>
            </a:r>
            <a:r>
              <a:rPr kumimoji="0" lang="en-US" altLang="en-US" b="0" i="0" u="none" strike="noStrike" cap="none" normalizeH="0" baseline="0" dirty="0">
                <a:ln>
                  <a:noFill/>
                </a:ln>
                <a:solidFill>
                  <a:schemeClr val="tx1"/>
                </a:solidFill>
                <a:effectLst/>
                <a:latin typeface="Arial Unicode MS"/>
              </a:rPr>
              <a:t> run build</a:t>
            </a:r>
            <a:r>
              <a:rPr kumimoji="0" lang="en-US" altLang="en-US" b="0" i="0" u="none" strike="noStrike" cap="none" normalizeH="0" baseline="0" dirty="0">
                <a:ln>
                  <a:noFill/>
                </a:ln>
                <a:solidFill>
                  <a:schemeClr val="tx1"/>
                </a:solidFill>
                <a:effectLst/>
              </a:rPr>
              <a:t>) to verify that the project compiles without errors</a:t>
            </a:r>
            <a:r>
              <a:rPr kumimoji="0" lang="en-US" altLang="en-US" sz="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Deployment Testing:</a:t>
            </a: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After deploying to Netlify, the live site was tested to ensure pages load correctly and all features function as expected.</a:t>
            </a:r>
          </a:p>
        </p:txBody>
      </p:sp>
    </p:spTree>
    <p:extLst>
      <p:ext uri="{BB962C8B-B14F-4D97-AF65-F5344CB8AC3E}">
        <p14:creationId xmlns:p14="http://schemas.microsoft.com/office/powerpoint/2010/main" val="35000953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23BEB-499B-0286-92FE-E242CA753B62}"/>
              </a:ext>
            </a:extLst>
          </p:cNvPr>
          <p:cNvSpPr>
            <a:spLocks noGrp="1"/>
          </p:cNvSpPr>
          <p:nvPr>
            <p:ph type="title"/>
          </p:nvPr>
        </p:nvSpPr>
        <p:spPr/>
        <p:txBody>
          <a:bodyPr/>
          <a:lstStyle/>
          <a:p>
            <a:r>
              <a:rPr lang="en-US" dirty="0"/>
              <a:t>Result</a:t>
            </a:r>
            <a:endParaRPr lang="en-IN" dirty="0"/>
          </a:p>
        </p:txBody>
      </p:sp>
      <p:sp>
        <p:nvSpPr>
          <p:cNvPr id="4" name="Content Placeholder 3">
            <a:extLst>
              <a:ext uri="{FF2B5EF4-FFF2-40B4-BE49-F238E27FC236}">
                <a16:creationId xmlns:a16="http://schemas.microsoft.com/office/drawing/2014/main" id="{75744FB4-E879-0F67-8048-DE792098BA04}"/>
              </a:ext>
            </a:extLst>
          </p:cNvPr>
          <p:cNvSpPr>
            <a:spLocks noGrp="1"/>
          </p:cNvSpPr>
          <p:nvPr>
            <p:ph idx="1"/>
          </p:nvPr>
        </p:nvSpPr>
        <p:spPr>
          <a:xfrm>
            <a:off x="426720" y="1270001"/>
            <a:ext cx="8684722" cy="1026160"/>
          </a:xfrm>
        </p:spPr>
        <p:txBody>
          <a:bodyPr>
            <a:normAutofit lnSpcReduction="10000"/>
          </a:bodyPr>
          <a:lstStyle/>
          <a:p>
            <a:r>
              <a:rPr lang="en-US" dirty="0">
                <a:solidFill>
                  <a:schemeClr val="tx1">
                    <a:lumMod val="95000"/>
                    <a:lumOff val="5000"/>
                  </a:schemeClr>
                </a:solidFill>
              </a:rPr>
              <a:t>Sign-up/sign-in-page</a:t>
            </a:r>
          </a:p>
          <a:p>
            <a:r>
              <a:rPr lang="en-IN" dirty="0">
                <a:solidFill>
                  <a:schemeClr val="tx1">
                    <a:lumMod val="95000"/>
                    <a:lumOff val="5000"/>
                  </a:schemeClr>
                </a:solidFill>
              </a:rPr>
              <a:t>The image shows a web based portal page for a migrant health with fields or username or passwords.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124075"/>
            <a:ext cx="4400550" cy="311050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2475" y="2057400"/>
            <a:ext cx="5229226" cy="3187458"/>
          </a:xfrm>
          <a:prstGeom prst="rect">
            <a:avLst/>
          </a:prstGeom>
        </p:spPr>
      </p:pic>
    </p:spTree>
    <p:extLst>
      <p:ext uri="{BB962C8B-B14F-4D97-AF65-F5344CB8AC3E}">
        <p14:creationId xmlns:p14="http://schemas.microsoft.com/office/powerpoint/2010/main" val="21703260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114090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537572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2"/>
            <a:ext cx="12192000" cy="6856327"/>
          </a:xfrm>
          <a:prstGeom prst="rect">
            <a:avLst/>
          </a:prstGeom>
        </p:spPr>
      </p:pic>
    </p:spTree>
    <p:extLst>
      <p:ext uri="{BB962C8B-B14F-4D97-AF65-F5344CB8AC3E}">
        <p14:creationId xmlns:p14="http://schemas.microsoft.com/office/powerpoint/2010/main" val="64083597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E03DCE-6154-C0D6-5C8E-3305B184604C}"/>
              </a:ext>
            </a:extLst>
          </p:cNvPr>
          <p:cNvSpPr txBox="1"/>
          <p:nvPr/>
        </p:nvSpPr>
        <p:spPr>
          <a:xfrm>
            <a:off x="417443" y="288241"/>
            <a:ext cx="7335079" cy="769441"/>
          </a:xfrm>
          <a:prstGeom prst="rect">
            <a:avLst/>
          </a:prstGeom>
          <a:noFill/>
        </p:spPr>
        <p:txBody>
          <a:bodyPr wrap="square">
            <a:spAutoFit/>
          </a:bodyPr>
          <a:lstStyle/>
          <a:p>
            <a:r>
              <a:rPr lang="en-IN" sz="4400" dirty="0">
                <a:solidFill>
                  <a:schemeClr val="accent1"/>
                </a:solidFill>
              </a:rPr>
              <a:t>References</a:t>
            </a:r>
            <a:endParaRPr lang="en-US" sz="4400" dirty="0">
              <a:solidFill>
                <a:schemeClr val="accent1"/>
              </a:solidFill>
            </a:endParaRPr>
          </a:p>
        </p:txBody>
      </p:sp>
      <p:sp>
        <p:nvSpPr>
          <p:cNvPr id="4" name="Rectangle 1">
            <a:extLst>
              <a:ext uri="{FF2B5EF4-FFF2-40B4-BE49-F238E27FC236}">
                <a16:creationId xmlns:a16="http://schemas.microsoft.com/office/drawing/2014/main" id="{7069E758-5E99-E516-0FE1-C13C96A0501C}"/>
              </a:ext>
            </a:extLst>
          </p:cNvPr>
          <p:cNvSpPr>
            <a:spLocks noChangeArrowheads="1"/>
          </p:cNvSpPr>
          <p:nvPr/>
        </p:nvSpPr>
        <p:spPr bwMode="auto">
          <a:xfrm>
            <a:off x="376030" y="1366848"/>
            <a:ext cx="1143993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defTabSz="914400" eaLnBrk="0" fontAlgn="base" hangingPunct="0">
              <a:spcBef>
                <a:spcPct val="0"/>
              </a:spcBef>
              <a:spcAft>
                <a:spcPct val="0"/>
              </a:spcAft>
              <a:buFont typeface="Arial" panose="020B0604020202020204" pitchFamily="34" charset="0"/>
              <a:buChar char="•"/>
            </a:pPr>
            <a:r>
              <a:rPr lang="en-US" altLang="en-US" sz="2000" dirty="0">
                <a:latin typeface="Times New Roman"/>
                <a:cs typeface="Arial"/>
              </a:rPr>
              <a:t>World Health Organization</a:t>
            </a:r>
            <a:r>
              <a:rPr kumimoji="0" lang="en-US" altLang="en-US" sz="2000" b="0" i="0" u="none" strike="noStrike" cap="none" normalizeH="0" baseline="0" dirty="0">
                <a:ln>
                  <a:noFill/>
                </a:ln>
                <a:effectLst/>
                <a:latin typeface="Times New Roman"/>
                <a:cs typeface="Arial"/>
              </a:rPr>
              <a:t> (WHO). (2021). </a:t>
            </a:r>
            <a:r>
              <a:rPr kumimoji="0" lang="en-US" altLang="en-US" sz="2000" b="0" i="1" u="none" strike="noStrike" cap="none" normalizeH="0" baseline="0" dirty="0">
                <a:ln>
                  <a:noFill/>
                </a:ln>
                <a:effectLst/>
                <a:latin typeface="Times New Roman"/>
                <a:cs typeface="Arial"/>
              </a:rPr>
              <a:t>Global strategy on digital health 2020–2025.</a:t>
            </a:r>
            <a:r>
              <a:rPr lang="en-US" altLang="en-US" sz="2000" b="0" i="0" u="none" strike="noStrike" cap="none" normalizeH="0" baseline="0" dirty="0">
                <a:ln>
                  <a:noFill/>
                </a:ln>
                <a:effectLst/>
                <a:latin typeface="Times New Roman"/>
              </a:rPr>
              <a:t/>
            </a:r>
            <a:br>
              <a:rPr lang="en-US" altLang="en-US" sz="2000" b="0" i="0" u="none" strike="noStrike" cap="none" normalizeH="0" baseline="0" dirty="0">
                <a:ln>
                  <a:noFill/>
                </a:ln>
                <a:effectLst/>
                <a:latin typeface="Times New Roman"/>
              </a:rPr>
            </a:br>
            <a:r>
              <a:rPr kumimoji="0" lang="en-US" altLang="en-US" sz="2000" b="0" i="0" u="none" strike="noStrike" cap="none" normalizeH="0" baseline="0" dirty="0">
                <a:ln>
                  <a:noFill/>
                </a:ln>
                <a:effectLst/>
                <a:latin typeface="Times New Roman"/>
                <a:cs typeface="Arial"/>
              </a:rPr>
              <a:t>→ </a:t>
            </a:r>
            <a:r>
              <a:rPr kumimoji="0" lang="en-US" altLang="en-US" sz="2000" b="0" i="0" u="none" strike="noStrike" cap="none" normalizeH="0" baseline="0" dirty="0">
                <a:ln>
                  <a:noFill/>
                </a:ln>
                <a:effectLst/>
                <a:latin typeface="Times New Roman"/>
                <a:cs typeface="Arial"/>
                <a:hlinkClick r:id="rId2">
                  <a:extLst>
                    <a:ext uri="{A12FA001-AC4F-418D-AE19-62706E023703}">
                      <ahyp:hlinkClr xmlns="" xmlns:ahyp="http://schemas.microsoft.com/office/drawing/2018/hyperlinkcolor" val="tx"/>
                    </a:ext>
                  </a:extLst>
                </a:hlinkClick>
              </a:rPr>
              <a:t>https://www.who.int/publications/i/item/9789240020924</a:t>
            </a:r>
            <a:endParaRPr lang="en-US" altLang="en-US" sz="2000" b="0" i="0" u="none" strike="noStrike" cap="none" normalizeH="0" baseline="0">
              <a:ln>
                <a:noFill/>
              </a:ln>
              <a:effectLst/>
              <a:latin typeface="Times New Roman"/>
              <a:cs typeface="Arial"/>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a:cs typeface="Times New Roman"/>
              </a:rPr>
              <a:t>United Nations. (2015). </a:t>
            </a:r>
            <a:r>
              <a:rPr kumimoji="0" lang="en-US" altLang="en-US" sz="2000" b="0" i="1" u="none" strike="noStrike" cap="none" normalizeH="0" baseline="0" dirty="0">
                <a:ln>
                  <a:noFill/>
                </a:ln>
                <a:effectLst/>
                <a:latin typeface="Times New Roman"/>
                <a:cs typeface="Times New Roman"/>
              </a:rPr>
              <a:t>Transforming our world: The 2030 Agenda for Sustainable Development.</a:t>
            </a:r>
            <a:r>
              <a:rPr lang="en-US" altLang="en-US" sz="2000" b="0" i="0" u="none" strike="noStrike" cap="none" normalizeH="0" baseline="0" dirty="0">
                <a:ln>
                  <a:noFill/>
                </a:ln>
                <a:effectLst/>
                <a:latin typeface="Times New Roman"/>
              </a:rPr>
              <a:t/>
            </a:r>
            <a:br>
              <a:rPr lang="en-US" altLang="en-US" sz="2000" b="0" i="0" u="none" strike="noStrike" cap="none" normalizeH="0" baseline="0" dirty="0">
                <a:ln>
                  <a:noFill/>
                </a:ln>
                <a:effectLst/>
                <a:latin typeface="Times New Roman"/>
              </a:rPr>
            </a:br>
            <a:r>
              <a:rPr kumimoji="0" lang="en-US" altLang="en-US" sz="2000" b="0" i="0" u="none" strike="noStrike" cap="none" normalizeH="0" baseline="0" dirty="0">
                <a:ln>
                  <a:noFill/>
                </a:ln>
                <a:effectLst/>
                <a:latin typeface="Times New Roman"/>
                <a:cs typeface="Times New Roman"/>
              </a:rPr>
              <a:t>→ https://sdgs.un.org/2030agenda</a:t>
            </a:r>
            <a:endParaRPr lang="en-US" altLang="en-US" sz="2000" b="0" i="0" u="none" strike="noStrike" cap="none" normalizeH="0" baseline="0" dirty="0">
              <a:ln>
                <a:noFill/>
              </a:ln>
              <a:effectLst/>
              <a:latin typeface="Times New Roman"/>
              <a:cs typeface="Times New Roman"/>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a:cs typeface="Times New Roman"/>
              </a:rPr>
              <a:t>HL7 International. (2024). </a:t>
            </a:r>
            <a:r>
              <a:rPr kumimoji="0" lang="en-US" altLang="en-US" sz="2000" b="0" i="1" u="none" strike="noStrike" cap="none" normalizeH="0" baseline="0" dirty="0">
                <a:ln>
                  <a:noFill/>
                </a:ln>
                <a:effectLst/>
                <a:latin typeface="Times New Roman"/>
                <a:cs typeface="Times New Roman"/>
              </a:rPr>
              <a:t>FHIR (Fast Healthcare Interoperability Resources) Specification.</a:t>
            </a:r>
            <a:r>
              <a:rPr lang="en-US" altLang="en-US" sz="2000" b="0" i="0" u="none" strike="noStrike" cap="none" normalizeH="0" baseline="0" dirty="0">
                <a:ln>
                  <a:noFill/>
                </a:ln>
                <a:effectLst/>
                <a:latin typeface="Times New Roman"/>
              </a:rPr>
              <a:t/>
            </a:r>
            <a:br>
              <a:rPr lang="en-US" altLang="en-US" sz="2000" b="0" i="0" u="none" strike="noStrike" cap="none" normalizeH="0" baseline="0" dirty="0">
                <a:ln>
                  <a:noFill/>
                </a:ln>
                <a:effectLst/>
                <a:latin typeface="Times New Roman"/>
              </a:rPr>
            </a:br>
            <a:r>
              <a:rPr kumimoji="0" lang="en-US" altLang="en-US" sz="2000" b="0" i="0" u="none" strike="noStrike" cap="none" normalizeH="0" baseline="0" dirty="0">
                <a:ln>
                  <a:noFill/>
                </a:ln>
                <a:effectLst/>
                <a:latin typeface="Times New Roman"/>
                <a:cs typeface="Times New Roman"/>
              </a:rPr>
              <a:t>→ https://hl7.org/fhir/</a:t>
            </a:r>
            <a:endParaRPr lang="en-US" altLang="en-US" sz="2000" b="0" i="0" u="none" strike="noStrike" cap="none" normalizeH="0" baseline="0" dirty="0">
              <a:ln>
                <a:noFill/>
              </a:ln>
              <a:effectLst/>
              <a:latin typeface="Times New Roman"/>
              <a:cs typeface="Times New Roman"/>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effectLst/>
                <a:latin typeface="Times New Roman"/>
                <a:cs typeface="Times New Roman"/>
              </a:rPr>
              <a:t>Ministry of Health and Family Welfare, Government of India. (2022). </a:t>
            </a:r>
            <a:r>
              <a:rPr kumimoji="0" lang="en-US" altLang="en-US" sz="2000" b="0" i="1" u="none" strike="noStrike" cap="none" normalizeH="0" baseline="0" dirty="0">
                <a:ln>
                  <a:noFill/>
                </a:ln>
                <a:effectLst/>
                <a:latin typeface="Times New Roman"/>
                <a:cs typeface="Times New Roman"/>
              </a:rPr>
              <a:t>National Digital Health Mission (NDHM) Blueprint.</a:t>
            </a:r>
            <a:r>
              <a:rPr lang="en-US" altLang="en-US" sz="2000" b="0" i="0" u="none" strike="noStrike" cap="none" normalizeH="0" baseline="0" dirty="0">
                <a:ln>
                  <a:noFill/>
                </a:ln>
                <a:effectLst/>
                <a:latin typeface="Times New Roman"/>
              </a:rPr>
              <a:t/>
            </a:r>
            <a:br>
              <a:rPr lang="en-US" altLang="en-US" sz="2000" b="0" i="0" u="none" strike="noStrike" cap="none" normalizeH="0" baseline="0" dirty="0">
                <a:ln>
                  <a:noFill/>
                </a:ln>
                <a:effectLst/>
                <a:latin typeface="Times New Roman"/>
              </a:rPr>
            </a:br>
            <a:r>
              <a:rPr kumimoji="0" lang="en-US" altLang="en-US" sz="2000" b="0" i="0" u="none" strike="noStrike" cap="none" normalizeH="0" baseline="0" dirty="0">
                <a:ln>
                  <a:noFill/>
                </a:ln>
                <a:effectLst/>
                <a:latin typeface="Times New Roman"/>
                <a:cs typeface="Times New Roman"/>
              </a:rPr>
              <a:t>→ https://ndhm.gov.in/</a:t>
            </a:r>
            <a:endParaRPr lang="en-US" altLang="en-US" sz="2000" b="0" i="0" u="none" strike="noStrike" cap="none" normalizeH="0" baseline="0" dirty="0">
              <a:ln>
                <a:noFill/>
              </a:ln>
              <a:effectLst/>
              <a:latin typeface="Times New Roman"/>
              <a:cs typeface="Times New Roman"/>
            </a:endParaRPr>
          </a:p>
        </p:txBody>
      </p:sp>
    </p:spTree>
    <p:extLst>
      <p:ext uri="{BB962C8B-B14F-4D97-AF65-F5344CB8AC3E}">
        <p14:creationId xmlns:p14="http://schemas.microsoft.com/office/powerpoint/2010/main" val="6887321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F67A9-84B1-026A-943E-F5DDE14F36ED}"/>
              </a:ext>
            </a:extLst>
          </p:cNvPr>
          <p:cNvSpPr>
            <a:spLocks noGrp="1"/>
          </p:cNvSpPr>
          <p:nvPr>
            <p:ph type="title"/>
          </p:nvPr>
        </p:nvSpPr>
        <p:spPr/>
        <p:txBody>
          <a:bodyPr>
            <a:normAutofit/>
          </a:bodyPr>
          <a:lstStyle/>
          <a:p>
            <a:r>
              <a:rPr lang="en-US" sz="4400" dirty="0"/>
              <a:t>Conclusion:</a:t>
            </a:r>
          </a:p>
        </p:txBody>
      </p:sp>
      <p:sp>
        <p:nvSpPr>
          <p:cNvPr id="3" name="Content Placeholder 2">
            <a:extLst>
              <a:ext uri="{FF2B5EF4-FFF2-40B4-BE49-F238E27FC236}">
                <a16:creationId xmlns:a16="http://schemas.microsoft.com/office/drawing/2014/main" id="{74F5BCDD-ACDD-7EAA-59F8-2DE0BA6A1AD2}"/>
              </a:ext>
            </a:extLst>
          </p:cNvPr>
          <p:cNvSpPr>
            <a:spLocks noGrp="1"/>
          </p:cNvSpPr>
          <p:nvPr>
            <p:ph idx="1"/>
          </p:nvPr>
        </p:nvSpPr>
        <p:spPr/>
        <p:txBody>
          <a:bodyPr anchor="t">
            <a:normAutofit/>
          </a:bodyPr>
          <a:lstStyle/>
          <a:p>
            <a:pPr algn="just"/>
            <a:r>
              <a:rPr lang="en-US" sz="2000" dirty="0"/>
              <a:t>The Digital Health Record Management System greatly improves the daily lives of migrant workers by making their health information easily accessible, secure, and portable. It ensures quick medical care, reduces repeated tests, and helps doctors provide better treatment anywhere. Aligned with SDG goals, it promotes good health, equality, and sustainable communities by connecting people, clinics, and health services seamlessly.</a:t>
            </a:r>
          </a:p>
        </p:txBody>
      </p:sp>
    </p:spTree>
    <p:extLst>
      <p:ext uri="{BB962C8B-B14F-4D97-AF65-F5344CB8AC3E}">
        <p14:creationId xmlns:p14="http://schemas.microsoft.com/office/powerpoint/2010/main" val="4263626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8E59-AF3D-8EC4-81C1-369C27425C35}"/>
              </a:ext>
            </a:extLst>
          </p:cNvPr>
          <p:cNvSpPr>
            <a:spLocks noGrp="1"/>
          </p:cNvSpPr>
          <p:nvPr>
            <p:ph type="title"/>
          </p:nvPr>
        </p:nvSpPr>
        <p:spPr>
          <a:xfrm>
            <a:off x="2545892" y="1850897"/>
            <a:ext cx="8596668" cy="1826581"/>
          </a:xfrm>
        </p:spPr>
        <p:txBody>
          <a:bodyPr>
            <a:normAutofit/>
          </a:bodyPr>
          <a:lstStyle/>
          <a:p>
            <a:r>
              <a:rPr lang="en-US" sz="6600" dirty="0"/>
              <a:t>THANK YOU</a:t>
            </a:r>
          </a:p>
        </p:txBody>
      </p:sp>
    </p:spTree>
    <p:extLst>
      <p:ext uri="{BB962C8B-B14F-4D97-AF65-F5344CB8AC3E}">
        <p14:creationId xmlns:p14="http://schemas.microsoft.com/office/powerpoint/2010/main" val="310370408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572</TotalTime>
  <Words>907</Words>
  <Application>Microsoft Office PowerPoint</Application>
  <PresentationFormat>Widescreen</PresentationFormat>
  <Paragraphs>136</Paragraphs>
  <Slides>23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Aptos</vt:lpstr>
      <vt:lpstr>Arial</vt:lpstr>
      <vt:lpstr>Arial Unicode MS</vt:lpstr>
      <vt:lpstr>Calibri</vt:lpstr>
      <vt:lpstr>Gautami</vt:lpstr>
      <vt:lpstr>Times New Roman</vt:lpstr>
      <vt:lpstr>Trebuchet MS</vt:lpstr>
      <vt:lpstr>Wingdings 3</vt:lpstr>
      <vt:lpstr>Facet</vt:lpstr>
      <vt:lpstr>    Project G Dept.of C </vt:lpstr>
      <vt:lpstr>PowerPoint Presentation</vt:lpstr>
      <vt:lpstr>Abstract</vt:lpstr>
      <vt:lpstr>Objectives</vt:lpstr>
      <vt:lpstr>Literature Survey</vt:lpstr>
      <vt:lpstr>Problem Statement</vt:lpstr>
      <vt:lpstr>Scope of the Project</vt:lpstr>
      <vt:lpstr>Software/Hardware requirements</vt:lpstr>
      <vt:lpstr>PowerPoint Presentation</vt:lpstr>
      <vt:lpstr>   Functional and Non-functional                    requirements</vt:lpstr>
      <vt:lpstr>Non-functional requirements</vt:lpstr>
      <vt:lpstr>Description of Modules</vt:lpstr>
      <vt:lpstr>PowerPoint Presentation</vt:lpstr>
      <vt:lpstr>PowerPoint Presentation</vt:lpstr>
      <vt:lpstr>Implementation</vt:lpstr>
      <vt:lpstr>Testing</vt:lpstr>
      <vt:lpstr>Result</vt:lpstr>
      <vt:lpstr>PowerPoint Presentation</vt:lpstr>
      <vt:lpstr>PowerPoint Presentation</vt:lpstr>
      <vt:lpstr>PowerPoint Presentation</vt:lpstr>
      <vt:lpstr>PowerPoint Presentation</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Health Record Management System for Migrant Workers</dc:title>
  <dc:subject/>
  <dc:creator>ADMIN</dc:creator>
  <cp:keywords/>
  <dc:description>generated using python-pptx</dc:description>
  <cp:lastModifiedBy>ADMIN</cp:lastModifiedBy>
  <cp:revision>88</cp:revision>
  <dcterms:created xsi:type="dcterms:W3CDTF">2013-01-27T09:14:16Z</dcterms:created>
  <dcterms:modified xsi:type="dcterms:W3CDTF">2025-11-21T08:42:47Z</dcterms:modified>
  <cp:category/>
</cp:coreProperties>
</file>